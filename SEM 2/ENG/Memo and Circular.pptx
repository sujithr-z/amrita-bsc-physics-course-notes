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18" roundtripDataSignature="AMtx7mjvabanFMzbqHuwJyWZN7KDppDVo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69C23C3-500C-426C-8562-DBB80E039A40}">
  <a:tblStyle styleId="{069C23C3-500C-426C-8562-DBB80E039A40}"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6" Type="http://schemas.openxmlformats.org/officeDocument/2006/relationships/notesMaster" Target="notesMasters/notesMaster1.xml"/><Relationship Id="rId18" Type="http://customschemas.google.com/relationships/presentationmetadata" Target="meta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1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1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4" name="Google Shape;14;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1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0" name="Google Shape;20;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1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1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26" name="Google Shape;26;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1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2" name="Google Shape;32;p1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3" name="Google Shape;33;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1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39" name="Google Shape;39;p1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0" name="Google Shape;40;p1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1" name="Google Shape;41;p1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2" name="Google Shape;42;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0"/>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0"/>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20"/>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1"/>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1"/>
          <p:cNvSpPr/>
          <p:nvPr>
            <p:ph idx="2" type="pic"/>
          </p:nvPr>
        </p:nvSpPr>
        <p:spPr>
          <a:xfrm>
            <a:off x="1792288" y="612775"/>
            <a:ext cx="5486400" cy="4114800"/>
          </a:xfrm>
          <a:prstGeom prst="rect">
            <a:avLst/>
          </a:prstGeom>
          <a:noFill/>
          <a:ln>
            <a:noFill/>
          </a:ln>
        </p:spPr>
      </p:sp>
      <p:sp>
        <p:nvSpPr>
          <p:cNvPr id="64" name="Google Shape;64;p21"/>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2"/>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3"/>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3"/>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Memo and Circular</a:t>
            </a:r>
            <a:endParaRPr b="1"/>
          </a:p>
        </p:txBody>
      </p:sp>
      <p:sp>
        <p:nvSpPr>
          <p:cNvPr id="85" name="Google Shape;85;p1"/>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rgbClr val="888888"/>
              </a:buClr>
              <a:buSzPts val="32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Memo</a:t>
            </a:r>
            <a:endParaRPr/>
          </a:p>
        </p:txBody>
      </p:sp>
      <p:sp>
        <p:nvSpPr>
          <p:cNvPr id="91" name="Google Shape;91;p2"/>
          <p:cNvSpPr txBox="1"/>
          <p:nvPr>
            <p:ph idx="1" type="body"/>
          </p:nvPr>
        </p:nvSpPr>
        <p:spPr>
          <a:xfrm>
            <a:off x="86497" y="1637270"/>
            <a:ext cx="8229600" cy="4525963"/>
          </a:xfrm>
          <a:prstGeom prst="rect">
            <a:avLst/>
          </a:prstGeom>
          <a:noFill/>
          <a:ln>
            <a:noFill/>
          </a:ln>
        </p:spPr>
        <p:txBody>
          <a:bodyPr anchorCtr="0" anchor="t" bIns="45700" lIns="91425" spcFirstLastPara="1" rIns="91425" wrap="square" tIns="45700">
            <a:normAutofit fontScale="85000" lnSpcReduction="10000"/>
          </a:bodyPr>
          <a:lstStyle/>
          <a:p>
            <a:pPr indent="-342900" lvl="0" marL="342900" rtl="0" algn="l">
              <a:spcBef>
                <a:spcPts val="0"/>
              </a:spcBef>
              <a:spcAft>
                <a:spcPts val="0"/>
              </a:spcAft>
              <a:buClr>
                <a:schemeClr val="dk1"/>
              </a:buClr>
              <a:buSzPct val="100000"/>
              <a:buChar char="•"/>
            </a:pPr>
            <a:r>
              <a:rPr lang="en-US"/>
              <a:t>The shortened term for “memorandum,” a memo has a content or subject that is somewhat limited.</a:t>
            </a:r>
            <a:endParaRPr/>
          </a:p>
          <a:p>
            <a:pPr indent="-342900" lvl="0" marL="342900" rtl="0" algn="l">
              <a:spcBef>
                <a:spcPts val="544"/>
              </a:spcBef>
              <a:spcAft>
                <a:spcPts val="0"/>
              </a:spcAft>
              <a:buClr>
                <a:schemeClr val="dk1"/>
              </a:buClr>
              <a:buSzPct val="100000"/>
              <a:buChar char="•"/>
            </a:pPr>
            <a:r>
              <a:rPr lang="en-US"/>
              <a:t> Memos are, therefore, more exclusive in nature.</a:t>
            </a:r>
            <a:endParaRPr/>
          </a:p>
          <a:p>
            <a:pPr indent="-342900" lvl="0" marL="342900" rtl="0" algn="l">
              <a:spcBef>
                <a:spcPts val="544"/>
              </a:spcBef>
              <a:spcAft>
                <a:spcPts val="0"/>
              </a:spcAft>
              <a:buClr>
                <a:schemeClr val="dk1"/>
              </a:buClr>
              <a:buSzPct val="100000"/>
              <a:buChar char="•"/>
            </a:pPr>
            <a:r>
              <a:rPr lang="en-US"/>
              <a:t> </a:t>
            </a:r>
            <a:r>
              <a:rPr lang="en-US" u="sng"/>
              <a:t>They are made to remind somebody about something that warrants action. </a:t>
            </a:r>
            <a:endParaRPr/>
          </a:p>
          <a:p>
            <a:pPr indent="-342900" lvl="0" marL="342900" rtl="0" algn="l">
              <a:spcBef>
                <a:spcPts val="544"/>
              </a:spcBef>
              <a:spcAft>
                <a:spcPts val="0"/>
              </a:spcAft>
              <a:buClr>
                <a:schemeClr val="dk1"/>
              </a:buClr>
              <a:buSzPct val="100000"/>
              <a:buChar char="•"/>
            </a:pPr>
            <a:r>
              <a:rPr lang="en-US"/>
              <a:t>One can also pass on an idea or proposal by simply issuing a memo.</a:t>
            </a:r>
            <a:endParaRPr/>
          </a:p>
          <a:p>
            <a:pPr indent="-342900" lvl="0" marL="342900" rtl="0" algn="l">
              <a:spcBef>
                <a:spcPts val="544"/>
              </a:spcBef>
              <a:spcAft>
                <a:spcPts val="0"/>
              </a:spcAft>
              <a:buClr>
                <a:schemeClr val="dk1"/>
              </a:buClr>
              <a:buSzPct val="100000"/>
              <a:buChar char="•"/>
            </a:pPr>
            <a:r>
              <a:rPr lang="en-US"/>
              <a:t> </a:t>
            </a:r>
            <a:r>
              <a:rPr lang="en-US" u="sng"/>
              <a:t>Memos within an institution or company can even be limited to a single person or groups </a:t>
            </a:r>
            <a:r>
              <a:rPr lang="en-US"/>
              <a:t>and can be shared as necessary or for the benefit of only those who need to know, like in the case of a typical notice.</a:t>
            </a:r>
            <a:endParaRPr/>
          </a:p>
          <a:p>
            <a:pPr indent="-170180" lvl="0" marL="342900" rtl="0" algn="l">
              <a:spcBef>
                <a:spcPts val="544"/>
              </a:spcBef>
              <a:spcAft>
                <a:spcPts val="0"/>
              </a:spcAft>
              <a:buClr>
                <a:schemeClr val="dk1"/>
              </a:buClr>
              <a:buSzPct val="1000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Circular</a:t>
            </a:r>
            <a:endParaRPr/>
          </a:p>
        </p:txBody>
      </p:sp>
      <p:sp>
        <p:nvSpPr>
          <p:cNvPr id="97" name="Google Shape;97;p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l">
              <a:spcBef>
                <a:spcPts val="0"/>
              </a:spcBef>
              <a:spcAft>
                <a:spcPts val="0"/>
              </a:spcAft>
              <a:buClr>
                <a:schemeClr val="dk1"/>
              </a:buClr>
              <a:buSzPct val="100000"/>
              <a:buChar char="•"/>
            </a:pPr>
            <a:r>
              <a:rPr lang="en-US"/>
              <a:t>A circular, on the other hand, often contains several topics.</a:t>
            </a:r>
            <a:endParaRPr/>
          </a:p>
          <a:p>
            <a:pPr indent="-342900" lvl="0" marL="342900" rtl="0" algn="l">
              <a:spcBef>
                <a:spcPts val="592"/>
              </a:spcBef>
              <a:spcAft>
                <a:spcPts val="0"/>
              </a:spcAft>
              <a:buClr>
                <a:schemeClr val="dk1"/>
              </a:buClr>
              <a:buSzPct val="100000"/>
              <a:buChar char="•"/>
            </a:pPr>
            <a:r>
              <a:rPr lang="en-US"/>
              <a:t> </a:t>
            </a:r>
            <a:r>
              <a:rPr lang="en-US" u="sng"/>
              <a:t>It has also been observed that circulars cover general subject matters.</a:t>
            </a:r>
            <a:endParaRPr/>
          </a:p>
          <a:p>
            <a:pPr indent="-342900" lvl="0" marL="342900" rtl="0" algn="l">
              <a:spcBef>
                <a:spcPts val="592"/>
              </a:spcBef>
              <a:spcAft>
                <a:spcPts val="0"/>
              </a:spcAft>
              <a:buClr>
                <a:schemeClr val="dk1"/>
              </a:buClr>
              <a:buSzPct val="100000"/>
              <a:buChar char="•"/>
            </a:pPr>
            <a:r>
              <a:rPr lang="en-US" u="sng"/>
              <a:t>A circular has a wider distribution to a wider audience or groups of people because it serves more like a general announcement.</a:t>
            </a:r>
            <a:endParaRPr/>
          </a:p>
          <a:p>
            <a:pPr indent="-342900" lvl="0" marL="342900" rtl="0" algn="l">
              <a:spcBef>
                <a:spcPts val="592"/>
              </a:spcBef>
              <a:spcAft>
                <a:spcPts val="0"/>
              </a:spcAft>
              <a:buClr>
                <a:schemeClr val="dk1"/>
              </a:buClr>
              <a:buSzPct val="100000"/>
              <a:buChar char="•"/>
            </a:pPr>
            <a:r>
              <a:rPr lang="en-US"/>
              <a:t>The usual intention of the one giving the message is for the general public or for as many individuals as possible to know the message.</a:t>
            </a:r>
            <a:endParaRPr/>
          </a:p>
          <a:p>
            <a:pPr indent="-154940" lvl="0" marL="342900" rtl="0" algn="l">
              <a:spcBef>
                <a:spcPts val="592"/>
              </a:spcBef>
              <a:spcAft>
                <a:spcPts val="0"/>
              </a:spcAft>
              <a:buClr>
                <a:schemeClr val="dk1"/>
              </a:buClr>
              <a:buSzPct val="10000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103" name="Google Shape;10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l">
              <a:spcBef>
                <a:spcPts val="0"/>
              </a:spcBef>
              <a:spcAft>
                <a:spcPts val="0"/>
              </a:spcAft>
              <a:buClr>
                <a:schemeClr val="dk1"/>
              </a:buClr>
              <a:buSzPct val="100000"/>
              <a:buNone/>
            </a:pPr>
            <a:r>
              <a:rPr b="1" lang="en-US"/>
              <a:t>   </a:t>
            </a:r>
            <a:r>
              <a:rPr b="1" lang="en-US" sz="3600"/>
              <a:t>Difference between a Memo and a Circular</a:t>
            </a:r>
            <a:endParaRPr/>
          </a:p>
          <a:p>
            <a:pPr indent="-342900" lvl="0" marL="342900" rtl="0" algn="l">
              <a:spcBef>
                <a:spcPts val="592"/>
              </a:spcBef>
              <a:spcAft>
                <a:spcPts val="0"/>
              </a:spcAft>
              <a:buClr>
                <a:schemeClr val="dk1"/>
              </a:buClr>
              <a:buSzPct val="100000"/>
              <a:buChar char="•"/>
            </a:pPr>
            <a:r>
              <a:rPr lang="en-US"/>
              <a:t> Circulars are intended for mass distribution whereas memos are intended for a select few.</a:t>
            </a:r>
            <a:endParaRPr/>
          </a:p>
          <a:p>
            <a:pPr indent="-342900" lvl="0" marL="342900" rtl="0" algn="l">
              <a:spcBef>
                <a:spcPts val="592"/>
              </a:spcBef>
              <a:spcAft>
                <a:spcPts val="0"/>
              </a:spcAft>
              <a:buClr>
                <a:schemeClr val="dk1"/>
              </a:buClr>
              <a:buSzPct val="100000"/>
              <a:buChar char="•"/>
            </a:pPr>
            <a:r>
              <a:rPr lang="en-US"/>
              <a:t>Circulars often bear general announcements and have several subjects while memos often bear a limited subject matter.</a:t>
            </a:r>
            <a:endParaRPr/>
          </a:p>
          <a:p>
            <a:pPr indent="-342900" lvl="0" marL="342900" rtl="0" algn="l">
              <a:spcBef>
                <a:spcPts val="592"/>
              </a:spcBef>
              <a:spcAft>
                <a:spcPts val="0"/>
              </a:spcAft>
              <a:buClr>
                <a:schemeClr val="dk1"/>
              </a:buClr>
              <a:buSzPct val="100000"/>
              <a:buChar char="•"/>
            </a:pPr>
            <a:r>
              <a:rPr lang="en-US"/>
              <a:t>Memos are more internal and exclusive in nature than circulars.</a:t>
            </a:r>
            <a:br>
              <a:rPr lang="en-US"/>
            </a:br>
            <a:endParaRPr/>
          </a:p>
          <a:p>
            <a:pPr indent="-154940" lvl="0" marL="342900" rtl="0" algn="l">
              <a:spcBef>
                <a:spcPts val="592"/>
              </a:spcBef>
              <a:spcAft>
                <a:spcPts val="0"/>
              </a:spcAft>
              <a:buClr>
                <a:schemeClr val="dk1"/>
              </a:buClr>
              <a:buSzPct val="100000"/>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Memo Format and Examples</a:t>
            </a:r>
            <a:endParaRPr/>
          </a:p>
        </p:txBody>
      </p:sp>
      <p:sp>
        <p:nvSpPr>
          <p:cNvPr id="109" name="Google Shape;109;p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40000" lnSpcReduction="20000"/>
          </a:bodyPr>
          <a:lstStyle/>
          <a:p>
            <a:pPr indent="-342900" lvl="0" marL="342900" rtl="0" algn="l">
              <a:spcBef>
                <a:spcPts val="0"/>
              </a:spcBef>
              <a:spcAft>
                <a:spcPts val="0"/>
              </a:spcAft>
              <a:buClr>
                <a:schemeClr val="dk1"/>
              </a:buClr>
              <a:buSzPct val="100000"/>
              <a:buNone/>
            </a:pPr>
            <a:r>
              <a:rPr lang="en-US"/>
              <a:t>                                                                                          </a:t>
            </a:r>
            <a:r>
              <a:rPr b="1" i="1" lang="en-US"/>
              <a:t>MEMORANDUM</a:t>
            </a:r>
            <a:endParaRPr/>
          </a:p>
          <a:p>
            <a:pPr indent="-342900" lvl="0" marL="342900" rtl="0" algn="l">
              <a:spcBef>
                <a:spcPts val="256"/>
              </a:spcBef>
              <a:spcAft>
                <a:spcPts val="0"/>
              </a:spcAft>
              <a:buClr>
                <a:schemeClr val="dk1"/>
              </a:buClr>
              <a:buSzPct val="100000"/>
              <a:buNone/>
            </a:pPr>
            <a:r>
              <a:rPr b="1" i="1" lang="en-US"/>
              <a:t>				</a:t>
            </a:r>
            <a:r>
              <a:rPr lang="en-US"/>
              <a:t>NAME &amp; ADDRESS OF THE COMPANY</a:t>
            </a:r>
            <a:endParaRPr/>
          </a:p>
          <a:p>
            <a:pPr indent="-342900" lvl="0" marL="342900" rtl="0" algn="l">
              <a:spcBef>
                <a:spcPts val="256"/>
              </a:spcBef>
              <a:spcAft>
                <a:spcPts val="0"/>
              </a:spcAft>
              <a:buClr>
                <a:schemeClr val="dk1"/>
              </a:buClr>
              <a:buSzPct val="100000"/>
              <a:buNone/>
            </a:pPr>
            <a:r>
              <a:rPr lang="en-US"/>
              <a:t> </a:t>
            </a:r>
            <a:endParaRPr/>
          </a:p>
          <a:p>
            <a:pPr indent="-342900" lvl="0" marL="342900" rtl="0" algn="l">
              <a:spcBef>
                <a:spcPts val="256"/>
              </a:spcBef>
              <a:spcAft>
                <a:spcPts val="0"/>
              </a:spcAft>
              <a:buClr>
                <a:schemeClr val="dk1"/>
              </a:buClr>
              <a:buSzPct val="100000"/>
              <a:buNone/>
            </a:pPr>
            <a:r>
              <a:t/>
            </a:r>
            <a:endParaRPr b="1" i="1"/>
          </a:p>
          <a:p>
            <a:pPr indent="-342900" lvl="0" marL="342900" rtl="0" algn="l">
              <a:spcBef>
                <a:spcPts val="256"/>
              </a:spcBef>
              <a:spcAft>
                <a:spcPts val="0"/>
              </a:spcAft>
              <a:buClr>
                <a:schemeClr val="dk1"/>
              </a:buClr>
              <a:buSzPct val="100000"/>
              <a:buNone/>
            </a:pPr>
            <a:r>
              <a:rPr b="1" i="1" lang="en-US"/>
              <a:t>                                                       </a:t>
            </a:r>
            <a:endParaRPr/>
          </a:p>
          <a:p>
            <a:pPr indent="-342900" lvl="0" marL="342900" rtl="0" algn="l">
              <a:spcBef>
                <a:spcPts val="256"/>
              </a:spcBef>
              <a:spcAft>
                <a:spcPts val="0"/>
              </a:spcAft>
              <a:buClr>
                <a:schemeClr val="dk1"/>
              </a:buClr>
              <a:buSzPct val="100000"/>
              <a:buNone/>
            </a:pPr>
            <a:r>
              <a:rPr i="1" lang="en-US"/>
              <a:t>	TO:</a:t>
            </a:r>
            <a:endParaRPr/>
          </a:p>
          <a:p>
            <a:pPr indent="-342900" lvl="0" marL="342900" rtl="0" algn="l">
              <a:spcBef>
                <a:spcPts val="256"/>
              </a:spcBef>
              <a:spcAft>
                <a:spcPts val="0"/>
              </a:spcAft>
              <a:buClr>
                <a:schemeClr val="dk1"/>
              </a:buClr>
              <a:buSzPct val="100000"/>
              <a:buNone/>
            </a:pPr>
            <a:r>
              <a:rPr i="1" lang="en-US"/>
              <a:t>	FROM:</a:t>
            </a:r>
            <a:endParaRPr/>
          </a:p>
          <a:p>
            <a:pPr indent="-342900" lvl="0" marL="342900" rtl="0" algn="l">
              <a:spcBef>
                <a:spcPts val="256"/>
              </a:spcBef>
              <a:spcAft>
                <a:spcPts val="0"/>
              </a:spcAft>
              <a:buClr>
                <a:schemeClr val="dk1"/>
              </a:buClr>
              <a:buSzPct val="100000"/>
              <a:buNone/>
            </a:pPr>
            <a:r>
              <a:rPr i="1" lang="en-US"/>
              <a:t>	DATE:</a:t>
            </a:r>
            <a:endParaRPr/>
          </a:p>
          <a:p>
            <a:pPr indent="-342900" lvl="0" marL="342900" rtl="0" algn="l">
              <a:spcBef>
                <a:spcPts val="256"/>
              </a:spcBef>
              <a:spcAft>
                <a:spcPts val="0"/>
              </a:spcAft>
              <a:buClr>
                <a:schemeClr val="dk1"/>
              </a:buClr>
              <a:buSzPct val="100000"/>
              <a:buNone/>
            </a:pPr>
            <a:r>
              <a:rPr i="1" lang="en-US"/>
              <a:t>	SUBJECT:</a:t>
            </a:r>
            <a:endParaRPr/>
          </a:p>
          <a:p>
            <a:pPr indent="-342900" lvl="0" marL="342900" rtl="0" algn="l">
              <a:spcBef>
                <a:spcPts val="256"/>
              </a:spcBef>
              <a:spcAft>
                <a:spcPts val="0"/>
              </a:spcAft>
              <a:buClr>
                <a:schemeClr val="dk1"/>
              </a:buClr>
              <a:buSzPct val="100000"/>
              <a:buNone/>
            </a:pPr>
            <a:r>
              <a:rPr lang="en-US"/>
              <a:t> </a:t>
            </a:r>
            <a:endParaRPr/>
          </a:p>
          <a:p>
            <a:pPr indent="-342900" lvl="0" marL="342900" rtl="0" algn="l">
              <a:spcBef>
                <a:spcPts val="256"/>
              </a:spcBef>
              <a:spcAft>
                <a:spcPts val="0"/>
              </a:spcAft>
              <a:buClr>
                <a:schemeClr val="dk1"/>
              </a:buClr>
              <a:buSzPct val="100000"/>
              <a:buNone/>
            </a:pPr>
            <a:r>
              <a:rPr i="1" lang="en-US"/>
              <a:t>	I'm writing to inform you that [reason for writing memo].</a:t>
            </a:r>
            <a:endParaRPr/>
          </a:p>
          <a:p>
            <a:pPr indent="-342900" lvl="0" marL="342900" rtl="0" algn="l">
              <a:spcBef>
                <a:spcPts val="256"/>
              </a:spcBef>
              <a:spcAft>
                <a:spcPts val="0"/>
              </a:spcAft>
              <a:buClr>
                <a:schemeClr val="dk1"/>
              </a:buClr>
              <a:buSzPct val="100000"/>
              <a:buNone/>
            </a:pPr>
            <a:r>
              <a:rPr lang="en-US"/>
              <a:t> </a:t>
            </a:r>
            <a:endParaRPr/>
          </a:p>
          <a:p>
            <a:pPr indent="-342900" lvl="0" marL="342900" rtl="0" algn="l">
              <a:spcBef>
                <a:spcPts val="256"/>
              </a:spcBef>
              <a:spcAft>
                <a:spcPts val="0"/>
              </a:spcAft>
              <a:buClr>
                <a:schemeClr val="dk1"/>
              </a:buClr>
              <a:buSzPct val="100000"/>
              <a:buNone/>
            </a:pPr>
            <a:r>
              <a:rPr i="1" lang="en-US"/>
              <a:t>        As our company continues to grow … [evidence or reason to support your opening paragraph].</a:t>
            </a:r>
            <a:endParaRPr/>
          </a:p>
          <a:p>
            <a:pPr indent="-342900" lvl="0" marL="342900" rtl="0" algn="l">
              <a:spcBef>
                <a:spcPts val="256"/>
              </a:spcBef>
              <a:spcAft>
                <a:spcPts val="0"/>
              </a:spcAft>
              <a:buClr>
                <a:schemeClr val="dk1"/>
              </a:buClr>
              <a:buSzPct val="100000"/>
              <a:buNone/>
            </a:pPr>
            <a:r>
              <a:rPr lang="en-US"/>
              <a:t> </a:t>
            </a:r>
            <a:endParaRPr/>
          </a:p>
          <a:p>
            <a:pPr indent="-342900" lvl="0" marL="342900" rtl="0" algn="l">
              <a:spcBef>
                <a:spcPts val="256"/>
              </a:spcBef>
              <a:spcAft>
                <a:spcPts val="0"/>
              </a:spcAft>
              <a:buClr>
                <a:schemeClr val="dk1"/>
              </a:buClr>
              <a:buSzPct val="100000"/>
              <a:buNone/>
            </a:pPr>
            <a:r>
              <a:rPr i="1" lang="en-US"/>
              <a:t>        Please let me know if you have any questions. In the meantime, I'd appreciate your cooperation as [official business information] takes place.</a:t>
            </a:r>
            <a:endParaRPr/>
          </a:p>
          <a:p>
            <a:pPr indent="-342900" lvl="0" marL="342900" rtl="0" algn="l">
              <a:spcBef>
                <a:spcPts val="256"/>
              </a:spcBef>
              <a:spcAft>
                <a:spcPts val="0"/>
              </a:spcAft>
              <a:buClr>
                <a:schemeClr val="dk1"/>
              </a:buClr>
              <a:buSzPct val="100000"/>
              <a:buNone/>
            </a:pPr>
            <a:r>
              <a:rPr i="1" lang="en-US"/>
              <a:t>       </a:t>
            </a:r>
            <a:endParaRPr/>
          </a:p>
          <a:p>
            <a:pPr indent="-342900" lvl="0" marL="342900" rtl="0" algn="l">
              <a:spcBef>
                <a:spcPts val="256"/>
              </a:spcBef>
              <a:spcAft>
                <a:spcPts val="0"/>
              </a:spcAft>
              <a:buClr>
                <a:schemeClr val="dk1"/>
              </a:buClr>
              <a:buSzPct val="100000"/>
              <a:buNone/>
            </a:pPr>
            <a:r>
              <a:rPr i="1" lang="en-US"/>
              <a:t>         Signature</a:t>
            </a:r>
            <a:endParaRPr/>
          </a:p>
          <a:p>
            <a:pPr indent="-342900" lvl="0" marL="342900" rtl="0" algn="l">
              <a:spcBef>
                <a:spcPts val="256"/>
              </a:spcBef>
              <a:spcAft>
                <a:spcPts val="0"/>
              </a:spcAft>
              <a:buClr>
                <a:schemeClr val="dk1"/>
              </a:buClr>
              <a:buSzPct val="100000"/>
              <a:buNone/>
            </a:pPr>
            <a:r>
              <a:rPr lang="en-US"/>
              <a:t> </a:t>
            </a:r>
            <a:endParaRPr/>
          </a:p>
          <a:p>
            <a:pPr indent="-342900" lvl="0" marL="342900" rtl="0" algn="l">
              <a:spcBef>
                <a:spcPts val="256"/>
              </a:spcBef>
              <a:spcAft>
                <a:spcPts val="0"/>
              </a:spcAft>
              <a:buClr>
                <a:schemeClr val="dk1"/>
              </a:buClr>
              <a:buSzPct val="100000"/>
              <a:buNone/>
            </a:pPr>
            <a:r>
              <a:rPr lang="en-US"/>
              <a:t> </a:t>
            </a:r>
            <a:endParaRPr/>
          </a:p>
          <a:p>
            <a:pPr indent="-342900" lvl="0" marL="342900" rtl="0" algn="l">
              <a:spcBef>
                <a:spcPts val="256"/>
              </a:spcBef>
              <a:spcAft>
                <a:spcPts val="0"/>
              </a:spcAft>
              <a:buClr>
                <a:schemeClr val="dk1"/>
              </a:buClr>
              <a:buSzPct val="100000"/>
              <a:buNone/>
            </a:pPr>
            <a:r>
              <a:t/>
            </a:r>
            <a:endParaRPr/>
          </a:p>
          <a:p>
            <a:pPr indent="-261620" lvl="0" marL="342900" rtl="0" algn="l">
              <a:spcBef>
                <a:spcPts val="256"/>
              </a:spcBef>
              <a:spcAft>
                <a:spcPts val="0"/>
              </a:spcAft>
              <a:buClr>
                <a:schemeClr val="dk1"/>
              </a:buClr>
              <a:buSzPct val="100000"/>
              <a:buNone/>
            </a:pPr>
            <a:r>
              <a:t/>
            </a:r>
            <a:endParaRPr/>
          </a:p>
        </p:txBody>
      </p:sp>
      <p:graphicFrame>
        <p:nvGraphicFramePr>
          <p:cNvPr id="110" name="Google Shape;110;p5"/>
          <p:cNvGraphicFramePr/>
          <p:nvPr/>
        </p:nvGraphicFramePr>
        <p:xfrm>
          <a:off x="734291" y="1330036"/>
          <a:ext cx="3000000" cy="3000000"/>
        </p:xfrm>
        <a:graphic>
          <a:graphicData uri="http://schemas.openxmlformats.org/drawingml/2006/table">
            <a:tbl>
              <a:tblPr>
                <a:noFill/>
                <a:tableStyleId>{069C23C3-500C-426C-8562-DBB80E039A40}</a:tableStyleId>
              </a:tblPr>
              <a:tblGrid>
                <a:gridCol w="7855525"/>
              </a:tblGrid>
              <a:tr h="4655125">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graphicFrame>
        <p:nvGraphicFramePr>
          <p:cNvPr id="111" name="Google Shape;111;p5"/>
          <p:cNvGraphicFramePr/>
          <p:nvPr/>
        </p:nvGraphicFramePr>
        <p:xfrm>
          <a:off x="8617527" y="1371600"/>
          <a:ext cx="3000000" cy="3000000"/>
        </p:xfrm>
        <a:graphic>
          <a:graphicData uri="http://schemas.openxmlformats.org/drawingml/2006/table">
            <a:tbl>
              <a:tblPr>
                <a:noFill/>
                <a:tableStyleId>{069C23C3-500C-426C-8562-DBB80E039A40}</a:tableStyleId>
              </a:tblPr>
              <a:tblGrid>
                <a:gridCol w="208275"/>
              </a:tblGrid>
              <a:tr h="387925">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EXAMPLE</a:t>
            </a:r>
            <a:endParaRPr/>
          </a:p>
        </p:txBody>
      </p:sp>
      <p:sp>
        <p:nvSpPr>
          <p:cNvPr id="117" name="Google Shape;117;p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47500" lnSpcReduction="20000"/>
          </a:bodyPr>
          <a:lstStyle/>
          <a:p>
            <a:pPr indent="-342900" lvl="0" marL="342900" rtl="0" algn="l">
              <a:spcBef>
                <a:spcPts val="0"/>
              </a:spcBef>
              <a:spcAft>
                <a:spcPts val="0"/>
              </a:spcAft>
              <a:buClr>
                <a:schemeClr val="dk1"/>
              </a:buClr>
              <a:buSzPct val="100000"/>
              <a:buNone/>
            </a:pPr>
            <a:r>
              <a:rPr lang="en-US"/>
              <a:t>                                                                             MEMORANDUM</a:t>
            </a:r>
            <a:endParaRPr/>
          </a:p>
          <a:p>
            <a:pPr indent="-342900" lvl="0" marL="342900" rtl="0" algn="l">
              <a:spcBef>
                <a:spcPts val="304"/>
              </a:spcBef>
              <a:spcAft>
                <a:spcPts val="0"/>
              </a:spcAft>
              <a:buClr>
                <a:schemeClr val="dk1"/>
              </a:buClr>
              <a:buSzPct val="100000"/>
              <a:buNone/>
            </a:pPr>
            <a:r>
              <a:rPr lang="en-US"/>
              <a:t> </a:t>
            </a:r>
            <a:endParaRPr/>
          </a:p>
          <a:p>
            <a:pPr indent="-342900" lvl="0" marL="342900" rtl="0" algn="l">
              <a:spcBef>
                <a:spcPts val="304"/>
              </a:spcBef>
              <a:spcAft>
                <a:spcPts val="0"/>
              </a:spcAft>
              <a:buClr>
                <a:schemeClr val="dk1"/>
              </a:buClr>
              <a:buSzPct val="100000"/>
              <a:buNone/>
            </a:pPr>
            <a:r>
              <a:rPr lang="en-US"/>
              <a:t>                                                                NAME &amp; ADDRESS OF THE COMPANY</a:t>
            </a:r>
            <a:endParaRPr/>
          </a:p>
          <a:p>
            <a:pPr indent="-342900" lvl="0" marL="342900" rtl="0" algn="l">
              <a:spcBef>
                <a:spcPts val="304"/>
              </a:spcBef>
              <a:spcAft>
                <a:spcPts val="0"/>
              </a:spcAft>
              <a:buClr>
                <a:schemeClr val="dk1"/>
              </a:buClr>
              <a:buSzPct val="100000"/>
              <a:buNone/>
            </a:pPr>
            <a:r>
              <a:rPr lang="en-US"/>
              <a:t> </a:t>
            </a:r>
            <a:endParaRPr/>
          </a:p>
          <a:p>
            <a:pPr indent="-342900" lvl="0" marL="342900" rtl="0" algn="l">
              <a:spcBef>
                <a:spcPts val="304"/>
              </a:spcBef>
              <a:spcAft>
                <a:spcPts val="0"/>
              </a:spcAft>
              <a:buClr>
                <a:schemeClr val="dk1"/>
              </a:buClr>
              <a:buSzPct val="100000"/>
              <a:buNone/>
            </a:pPr>
            <a:r>
              <a:rPr lang="en-US"/>
              <a:t>      Date: 12 Mar 2018</a:t>
            </a:r>
            <a:endParaRPr/>
          </a:p>
          <a:p>
            <a:pPr indent="-342900" lvl="0" marL="342900" rtl="0" algn="l">
              <a:spcBef>
                <a:spcPts val="304"/>
              </a:spcBef>
              <a:spcAft>
                <a:spcPts val="0"/>
              </a:spcAft>
              <a:buClr>
                <a:schemeClr val="dk1"/>
              </a:buClr>
              <a:buSzPct val="100000"/>
              <a:buNone/>
            </a:pPr>
            <a:r>
              <a:rPr lang="en-US"/>
              <a:t>      To: All employees</a:t>
            </a:r>
            <a:endParaRPr/>
          </a:p>
          <a:p>
            <a:pPr indent="-342900" lvl="0" marL="342900" rtl="0" algn="l">
              <a:spcBef>
                <a:spcPts val="304"/>
              </a:spcBef>
              <a:spcAft>
                <a:spcPts val="0"/>
              </a:spcAft>
              <a:buClr>
                <a:schemeClr val="dk1"/>
              </a:buClr>
              <a:buSzPct val="100000"/>
              <a:buNone/>
            </a:pPr>
            <a:r>
              <a:rPr lang="en-US"/>
              <a:t>      From: The General Manager</a:t>
            </a:r>
            <a:endParaRPr/>
          </a:p>
          <a:p>
            <a:pPr indent="-342900" lvl="0" marL="342900" rtl="0" algn="l">
              <a:spcBef>
                <a:spcPts val="304"/>
              </a:spcBef>
              <a:spcAft>
                <a:spcPts val="0"/>
              </a:spcAft>
              <a:buClr>
                <a:schemeClr val="dk1"/>
              </a:buClr>
              <a:buSzPct val="100000"/>
              <a:buNone/>
            </a:pPr>
            <a:r>
              <a:rPr lang="en-US"/>
              <a:t>      Subject: Warning memo</a:t>
            </a:r>
            <a:endParaRPr/>
          </a:p>
          <a:p>
            <a:pPr indent="-342900" lvl="0" marL="342900" rtl="0" algn="l">
              <a:spcBef>
                <a:spcPts val="304"/>
              </a:spcBef>
              <a:spcAft>
                <a:spcPts val="0"/>
              </a:spcAft>
              <a:buClr>
                <a:schemeClr val="dk1"/>
              </a:buClr>
              <a:buSzPct val="100000"/>
              <a:buNone/>
            </a:pPr>
            <a:r>
              <a:rPr lang="en-US"/>
              <a:t> </a:t>
            </a:r>
            <a:endParaRPr/>
          </a:p>
          <a:p>
            <a:pPr indent="-342900" lvl="0" marL="342900" rtl="0" algn="l">
              <a:spcBef>
                <a:spcPts val="304"/>
              </a:spcBef>
              <a:spcAft>
                <a:spcPts val="0"/>
              </a:spcAft>
              <a:buClr>
                <a:schemeClr val="dk1"/>
              </a:buClr>
              <a:buSzPct val="100000"/>
              <a:buNone/>
            </a:pPr>
            <a:r>
              <a:rPr lang="en-US"/>
              <a:t>        On [DATE], at [TIME] we met to discuss the problem of your unacceptable habit of taking frequent breaks during working hours. Please note that your act influences other team members negatively and thus bringing down the discipline level in our organization. All you need to do to improve your habit you need to observe break during specified break-timings. I will assist you in any way that I can to remedy the problem, however, unless the matter can be corrected, I shall have no other alternative but to further disciplinary or corrective actions. Please treat this warning seriously and improve accordingly.</a:t>
            </a:r>
            <a:endParaRPr/>
          </a:p>
          <a:p>
            <a:pPr indent="-342900" lvl="0" marL="342900" rtl="0" algn="l">
              <a:spcBef>
                <a:spcPts val="304"/>
              </a:spcBef>
              <a:spcAft>
                <a:spcPts val="0"/>
              </a:spcAft>
              <a:buClr>
                <a:schemeClr val="dk1"/>
              </a:buClr>
              <a:buSzPct val="100000"/>
              <a:buNone/>
            </a:pPr>
            <a:r>
              <a:rPr lang="en-US"/>
              <a:t> </a:t>
            </a:r>
            <a:endParaRPr/>
          </a:p>
          <a:p>
            <a:pPr indent="-342900" lvl="0" marL="342900" rtl="0" algn="l">
              <a:spcBef>
                <a:spcPts val="304"/>
              </a:spcBef>
              <a:spcAft>
                <a:spcPts val="0"/>
              </a:spcAft>
              <a:buClr>
                <a:schemeClr val="dk1"/>
              </a:buClr>
              <a:buSzPct val="100000"/>
              <a:buNone/>
            </a:pPr>
            <a:r>
              <a:rPr lang="en-US"/>
              <a:t>       (Signature)</a:t>
            </a:r>
            <a:endParaRPr/>
          </a:p>
          <a:p>
            <a:pPr indent="-342900" lvl="0" marL="342900" rtl="0" algn="l">
              <a:spcBef>
                <a:spcPts val="304"/>
              </a:spcBef>
              <a:spcAft>
                <a:spcPts val="0"/>
              </a:spcAft>
              <a:buClr>
                <a:schemeClr val="dk1"/>
              </a:buClr>
              <a:buSzPct val="100000"/>
              <a:buNone/>
            </a:pPr>
            <a:r>
              <a:t/>
            </a:r>
            <a:endParaRPr/>
          </a:p>
        </p:txBody>
      </p:sp>
      <p:graphicFrame>
        <p:nvGraphicFramePr>
          <p:cNvPr id="118" name="Google Shape;118;p6"/>
          <p:cNvGraphicFramePr/>
          <p:nvPr/>
        </p:nvGraphicFramePr>
        <p:xfrm>
          <a:off x="186358" y="1528141"/>
          <a:ext cx="3000000" cy="3000000"/>
        </p:xfrm>
        <a:graphic>
          <a:graphicData uri="http://schemas.openxmlformats.org/drawingml/2006/table">
            <a:tbl>
              <a:tblPr>
                <a:noFill/>
                <a:tableStyleId>{069C23C3-500C-426C-8562-DBB80E039A40}</a:tableStyleId>
              </a:tblPr>
              <a:tblGrid>
                <a:gridCol w="8766950"/>
              </a:tblGrid>
              <a:tr h="4133350">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124" name="Google Shape;124;p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47500" lnSpcReduction="20000"/>
          </a:bodyPr>
          <a:lstStyle/>
          <a:p>
            <a:pPr indent="-342900" lvl="0" marL="342900" rtl="0" algn="l">
              <a:spcBef>
                <a:spcPts val="0"/>
              </a:spcBef>
              <a:spcAft>
                <a:spcPts val="0"/>
              </a:spcAft>
              <a:buClr>
                <a:schemeClr val="dk1"/>
              </a:buClr>
              <a:buSzPct val="100000"/>
              <a:buNone/>
            </a:pPr>
            <a:r>
              <a:rPr lang="en-US"/>
              <a:t>				MEMORANDUM</a:t>
            </a:r>
            <a:endParaRPr/>
          </a:p>
          <a:p>
            <a:pPr indent="-342900" lvl="0" marL="342900" rtl="0" algn="l">
              <a:spcBef>
                <a:spcPts val="304"/>
              </a:spcBef>
              <a:spcAft>
                <a:spcPts val="0"/>
              </a:spcAft>
              <a:buClr>
                <a:schemeClr val="dk1"/>
              </a:buClr>
              <a:buSzPct val="100000"/>
              <a:buNone/>
            </a:pPr>
            <a:r>
              <a:rPr lang="en-US"/>
              <a:t> </a:t>
            </a:r>
            <a:endParaRPr/>
          </a:p>
          <a:p>
            <a:pPr indent="-342900" lvl="0" marL="342900" rtl="0" algn="l">
              <a:spcBef>
                <a:spcPts val="304"/>
              </a:spcBef>
              <a:spcAft>
                <a:spcPts val="0"/>
              </a:spcAft>
              <a:buClr>
                <a:schemeClr val="dk1"/>
              </a:buClr>
              <a:buSzPct val="100000"/>
              <a:buNone/>
            </a:pPr>
            <a:r>
              <a:rPr lang="en-US"/>
              <a:t>			          NAME &amp; ADDRESS OF THE COMPANY</a:t>
            </a:r>
            <a:endParaRPr/>
          </a:p>
          <a:p>
            <a:pPr indent="-342900" lvl="0" marL="342900" rtl="0" algn="l">
              <a:spcBef>
                <a:spcPts val="304"/>
              </a:spcBef>
              <a:spcAft>
                <a:spcPts val="0"/>
              </a:spcAft>
              <a:buClr>
                <a:schemeClr val="dk1"/>
              </a:buClr>
              <a:buSzPct val="100000"/>
              <a:buNone/>
            </a:pPr>
            <a:r>
              <a:rPr lang="en-US"/>
              <a:t> </a:t>
            </a:r>
            <a:endParaRPr/>
          </a:p>
          <a:p>
            <a:pPr indent="-342900" lvl="0" marL="342900" rtl="0" algn="l">
              <a:spcBef>
                <a:spcPts val="304"/>
              </a:spcBef>
              <a:spcAft>
                <a:spcPts val="0"/>
              </a:spcAft>
              <a:buClr>
                <a:schemeClr val="dk1"/>
              </a:buClr>
              <a:buSzPct val="100000"/>
              <a:buNone/>
            </a:pPr>
            <a:r>
              <a:rPr lang="en-US"/>
              <a:t>       Date: 10 Mar 2018</a:t>
            </a:r>
            <a:endParaRPr/>
          </a:p>
          <a:p>
            <a:pPr indent="-342900" lvl="0" marL="342900" rtl="0" algn="l">
              <a:spcBef>
                <a:spcPts val="304"/>
              </a:spcBef>
              <a:spcAft>
                <a:spcPts val="0"/>
              </a:spcAft>
              <a:buClr>
                <a:schemeClr val="dk1"/>
              </a:buClr>
              <a:buSzPct val="100000"/>
              <a:buNone/>
            </a:pPr>
            <a:r>
              <a:rPr lang="en-US"/>
              <a:t>       To: All employees</a:t>
            </a:r>
            <a:endParaRPr/>
          </a:p>
          <a:p>
            <a:pPr indent="-342900" lvl="0" marL="342900" rtl="0" algn="l">
              <a:spcBef>
                <a:spcPts val="304"/>
              </a:spcBef>
              <a:spcAft>
                <a:spcPts val="0"/>
              </a:spcAft>
              <a:buClr>
                <a:schemeClr val="dk1"/>
              </a:buClr>
              <a:buSzPct val="100000"/>
              <a:buNone/>
            </a:pPr>
            <a:r>
              <a:rPr lang="en-US"/>
              <a:t>       From: Rajeev Mohan, General Manager</a:t>
            </a:r>
            <a:endParaRPr/>
          </a:p>
          <a:p>
            <a:pPr indent="-342900" lvl="0" marL="342900" rtl="0" algn="l">
              <a:spcBef>
                <a:spcPts val="304"/>
              </a:spcBef>
              <a:spcAft>
                <a:spcPts val="0"/>
              </a:spcAft>
              <a:buClr>
                <a:schemeClr val="dk1"/>
              </a:buClr>
              <a:buSzPct val="100000"/>
              <a:buNone/>
            </a:pPr>
            <a:r>
              <a:rPr lang="en-US"/>
              <a:t>       Subject: Request for additional staff</a:t>
            </a:r>
            <a:endParaRPr/>
          </a:p>
          <a:p>
            <a:pPr indent="-342900" lvl="0" marL="342900" rtl="0" algn="l">
              <a:spcBef>
                <a:spcPts val="304"/>
              </a:spcBef>
              <a:spcAft>
                <a:spcPts val="0"/>
              </a:spcAft>
              <a:buClr>
                <a:schemeClr val="dk1"/>
              </a:buClr>
              <a:buSzPct val="100000"/>
              <a:buNone/>
            </a:pPr>
            <a:r>
              <a:rPr lang="en-US"/>
              <a:t> </a:t>
            </a:r>
            <a:endParaRPr/>
          </a:p>
          <a:p>
            <a:pPr indent="-342900" lvl="0" marL="342900" rtl="0" algn="l">
              <a:spcBef>
                <a:spcPts val="304"/>
              </a:spcBef>
              <a:spcAft>
                <a:spcPts val="0"/>
              </a:spcAft>
              <a:buClr>
                <a:schemeClr val="dk1"/>
              </a:buClr>
              <a:buSzPct val="100000"/>
              <a:buNone/>
            </a:pPr>
            <a:r>
              <a:rPr lang="en-US"/>
              <a:t>        I have noticed in the recent weeks that our office needs additional staff because the five staff that we have are already complaining about the volume of work that they have especially now that we had an increase in sales due to the expansion of our company. Hence, I would like to request for additional staff, I hope you can employ three more to help in the sorting and processing of the sales made in these two new locations. I hope that this request will be granted before the second week of next month so that we can cater to all the needs of our clients.</a:t>
            </a:r>
            <a:endParaRPr/>
          </a:p>
          <a:p>
            <a:pPr indent="-342900" lvl="0" marL="342900" rtl="0" algn="l">
              <a:spcBef>
                <a:spcPts val="304"/>
              </a:spcBef>
              <a:spcAft>
                <a:spcPts val="0"/>
              </a:spcAft>
              <a:buClr>
                <a:schemeClr val="dk1"/>
              </a:buClr>
              <a:buSzPct val="100000"/>
              <a:buNone/>
            </a:pPr>
            <a:r>
              <a:rPr lang="en-US"/>
              <a:t> </a:t>
            </a:r>
            <a:endParaRPr/>
          </a:p>
          <a:p>
            <a:pPr indent="-342900" lvl="0" marL="342900" rtl="0" algn="l">
              <a:spcBef>
                <a:spcPts val="304"/>
              </a:spcBef>
              <a:spcAft>
                <a:spcPts val="0"/>
              </a:spcAft>
              <a:buClr>
                <a:schemeClr val="dk1"/>
              </a:buClr>
              <a:buSzPct val="100000"/>
              <a:buNone/>
            </a:pPr>
            <a:r>
              <a:rPr lang="en-US"/>
              <a:t>        If you have any questions, please reach me at my mobile number. Thank you!</a:t>
            </a:r>
            <a:endParaRPr/>
          </a:p>
          <a:p>
            <a:pPr indent="-342900" lvl="0" marL="342900" rtl="0" algn="l">
              <a:spcBef>
                <a:spcPts val="304"/>
              </a:spcBef>
              <a:spcAft>
                <a:spcPts val="0"/>
              </a:spcAft>
              <a:buClr>
                <a:schemeClr val="dk1"/>
              </a:buClr>
              <a:buSzPct val="100000"/>
              <a:buNone/>
            </a:pPr>
            <a:r>
              <a:rPr lang="en-US"/>
              <a:t> </a:t>
            </a:r>
            <a:endParaRPr/>
          </a:p>
          <a:p>
            <a:pPr indent="-342900" lvl="0" marL="342900" rtl="0" algn="l">
              <a:spcBef>
                <a:spcPts val="304"/>
              </a:spcBef>
              <a:spcAft>
                <a:spcPts val="0"/>
              </a:spcAft>
              <a:buClr>
                <a:schemeClr val="dk1"/>
              </a:buClr>
              <a:buSzPct val="100000"/>
              <a:buNone/>
            </a:pPr>
            <a:r>
              <a:rPr lang="en-US"/>
              <a:t>        (Signature)</a:t>
            </a:r>
            <a:endParaRPr/>
          </a:p>
          <a:p>
            <a:pPr indent="-246380" lvl="0" marL="342900" rtl="0" algn="l">
              <a:spcBef>
                <a:spcPts val="304"/>
              </a:spcBef>
              <a:spcAft>
                <a:spcPts val="0"/>
              </a:spcAft>
              <a:buClr>
                <a:schemeClr val="dk1"/>
              </a:buClr>
              <a:buSzPct val="100000"/>
              <a:buNone/>
            </a:pPr>
            <a:r>
              <a:t/>
            </a:r>
            <a:endParaRPr/>
          </a:p>
        </p:txBody>
      </p:sp>
      <p:graphicFrame>
        <p:nvGraphicFramePr>
          <p:cNvPr id="125" name="Google Shape;125;p7"/>
          <p:cNvGraphicFramePr/>
          <p:nvPr/>
        </p:nvGraphicFramePr>
        <p:xfrm>
          <a:off x="762000" y="1524000"/>
          <a:ext cx="3000000" cy="3000000"/>
        </p:xfrm>
        <a:graphic>
          <a:graphicData uri="http://schemas.openxmlformats.org/drawingml/2006/table">
            <a:tbl>
              <a:tblPr>
                <a:noFill/>
                <a:tableStyleId>{069C23C3-500C-426C-8562-DBB80E039A40}</a:tableStyleId>
              </a:tblPr>
              <a:tblGrid>
                <a:gridCol w="7869375"/>
              </a:tblGrid>
              <a:tr h="4495800">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131" name="Google Shape;131;p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47500" lnSpcReduction="20000"/>
          </a:bodyPr>
          <a:lstStyle/>
          <a:p>
            <a:pPr indent="-342900" lvl="0" marL="342900" rtl="0" algn="l">
              <a:spcBef>
                <a:spcPts val="0"/>
              </a:spcBef>
              <a:spcAft>
                <a:spcPts val="0"/>
              </a:spcAft>
              <a:buClr>
                <a:schemeClr val="dk1"/>
              </a:buClr>
              <a:buSzPct val="100000"/>
              <a:buNone/>
            </a:pPr>
            <a:r>
              <a:rPr lang="en-US"/>
              <a:t>			                                         MEMORANDUM</a:t>
            </a:r>
            <a:endParaRPr/>
          </a:p>
          <a:p>
            <a:pPr indent="-342900" lvl="0" marL="342900" rtl="0" algn="l">
              <a:spcBef>
                <a:spcPts val="304"/>
              </a:spcBef>
              <a:spcAft>
                <a:spcPts val="0"/>
              </a:spcAft>
              <a:buClr>
                <a:schemeClr val="dk1"/>
              </a:buClr>
              <a:buSzPct val="100000"/>
              <a:buNone/>
            </a:pPr>
            <a:r>
              <a:rPr lang="en-US"/>
              <a:t> </a:t>
            </a:r>
            <a:endParaRPr/>
          </a:p>
          <a:p>
            <a:pPr indent="-342900" lvl="0" marL="342900" rtl="0" algn="l">
              <a:spcBef>
                <a:spcPts val="304"/>
              </a:spcBef>
              <a:spcAft>
                <a:spcPts val="0"/>
              </a:spcAft>
              <a:buClr>
                <a:schemeClr val="dk1"/>
              </a:buClr>
              <a:buSzPct val="100000"/>
              <a:buNone/>
            </a:pPr>
            <a:r>
              <a:rPr lang="en-US"/>
              <a:t>				NAME &amp; ADDRESS OF THE COMPANY</a:t>
            </a:r>
            <a:endParaRPr/>
          </a:p>
          <a:p>
            <a:pPr indent="-342900" lvl="0" marL="342900" rtl="0" algn="l">
              <a:spcBef>
                <a:spcPts val="304"/>
              </a:spcBef>
              <a:spcAft>
                <a:spcPts val="0"/>
              </a:spcAft>
              <a:buClr>
                <a:schemeClr val="dk1"/>
              </a:buClr>
              <a:buSzPct val="100000"/>
              <a:buNone/>
            </a:pPr>
            <a:r>
              <a:rPr lang="en-US"/>
              <a:t> </a:t>
            </a:r>
            <a:endParaRPr/>
          </a:p>
          <a:p>
            <a:pPr indent="-342900" lvl="0" marL="342900" rtl="0" algn="l">
              <a:spcBef>
                <a:spcPts val="304"/>
              </a:spcBef>
              <a:spcAft>
                <a:spcPts val="0"/>
              </a:spcAft>
              <a:buClr>
                <a:schemeClr val="dk1"/>
              </a:buClr>
              <a:buSzPct val="100000"/>
              <a:buNone/>
            </a:pPr>
            <a:r>
              <a:rPr lang="en-US"/>
              <a:t>         Date: 10 Mar 2018</a:t>
            </a:r>
            <a:endParaRPr/>
          </a:p>
          <a:p>
            <a:pPr indent="-342900" lvl="0" marL="342900" rtl="0" algn="l">
              <a:spcBef>
                <a:spcPts val="304"/>
              </a:spcBef>
              <a:spcAft>
                <a:spcPts val="0"/>
              </a:spcAft>
              <a:buClr>
                <a:schemeClr val="dk1"/>
              </a:buClr>
              <a:buSzPct val="100000"/>
              <a:buNone/>
            </a:pPr>
            <a:r>
              <a:rPr lang="en-US"/>
              <a:t>         To: The Sales Manager</a:t>
            </a:r>
            <a:endParaRPr/>
          </a:p>
          <a:p>
            <a:pPr indent="-342900" lvl="0" marL="342900" rtl="0" algn="l">
              <a:spcBef>
                <a:spcPts val="304"/>
              </a:spcBef>
              <a:spcAft>
                <a:spcPts val="0"/>
              </a:spcAft>
              <a:buClr>
                <a:schemeClr val="dk1"/>
              </a:buClr>
              <a:buSzPct val="100000"/>
              <a:buNone/>
            </a:pPr>
            <a:r>
              <a:rPr lang="en-US"/>
              <a:t>         From: The Chairman</a:t>
            </a:r>
            <a:endParaRPr/>
          </a:p>
          <a:p>
            <a:pPr indent="-342900" lvl="0" marL="342900" rtl="0" algn="l">
              <a:spcBef>
                <a:spcPts val="304"/>
              </a:spcBef>
              <a:spcAft>
                <a:spcPts val="0"/>
              </a:spcAft>
              <a:buClr>
                <a:schemeClr val="dk1"/>
              </a:buClr>
              <a:buSzPct val="100000"/>
              <a:buNone/>
            </a:pPr>
            <a:r>
              <a:rPr lang="en-US"/>
              <a:t>         Subject: Congratulations</a:t>
            </a:r>
            <a:endParaRPr/>
          </a:p>
          <a:p>
            <a:pPr indent="-342900" lvl="0" marL="342900" rtl="0" algn="l">
              <a:spcBef>
                <a:spcPts val="304"/>
              </a:spcBef>
              <a:spcAft>
                <a:spcPts val="0"/>
              </a:spcAft>
              <a:buClr>
                <a:schemeClr val="dk1"/>
              </a:buClr>
              <a:buSzPct val="100000"/>
              <a:buNone/>
            </a:pPr>
            <a:r>
              <a:rPr lang="en-US"/>
              <a:t> </a:t>
            </a:r>
            <a:endParaRPr/>
          </a:p>
          <a:p>
            <a:pPr indent="-342900" lvl="0" marL="342900" rtl="0" algn="l">
              <a:spcBef>
                <a:spcPts val="304"/>
              </a:spcBef>
              <a:spcAft>
                <a:spcPts val="0"/>
              </a:spcAft>
              <a:buClr>
                <a:schemeClr val="dk1"/>
              </a:buClr>
              <a:buSzPct val="100000"/>
              <a:buNone/>
            </a:pPr>
            <a:r>
              <a:rPr lang="en-US"/>
              <a:t>        Congratulations on completing your team's project ahead of schedule.</a:t>
            </a:r>
            <a:endParaRPr/>
          </a:p>
          <a:p>
            <a:pPr indent="-342900" lvl="0" marL="342900" rtl="0" algn="l">
              <a:spcBef>
                <a:spcPts val="304"/>
              </a:spcBef>
              <a:spcAft>
                <a:spcPts val="0"/>
              </a:spcAft>
              <a:buClr>
                <a:schemeClr val="dk1"/>
              </a:buClr>
              <a:buSzPct val="100000"/>
              <a:buNone/>
            </a:pPr>
            <a:r>
              <a:rPr lang="en-US"/>
              <a:t> </a:t>
            </a:r>
            <a:endParaRPr/>
          </a:p>
          <a:p>
            <a:pPr indent="-342900" lvl="0" marL="342900" rtl="0" algn="l">
              <a:spcBef>
                <a:spcPts val="304"/>
              </a:spcBef>
              <a:spcAft>
                <a:spcPts val="0"/>
              </a:spcAft>
              <a:buClr>
                <a:schemeClr val="dk1"/>
              </a:buClr>
              <a:buSzPct val="100000"/>
              <a:buNone/>
            </a:pPr>
            <a:r>
              <a:rPr lang="en-US"/>
              <a:t>        Your abilities to organize and motivate your team are a real asset to the company. Your innovation and persistence made all the difference in making this achievement possible.</a:t>
            </a:r>
            <a:endParaRPr/>
          </a:p>
          <a:p>
            <a:pPr indent="-342900" lvl="0" marL="342900" rtl="0" algn="l">
              <a:spcBef>
                <a:spcPts val="304"/>
              </a:spcBef>
              <a:spcAft>
                <a:spcPts val="0"/>
              </a:spcAft>
              <a:buClr>
                <a:schemeClr val="dk1"/>
              </a:buClr>
              <a:buSzPct val="100000"/>
              <a:buNone/>
            </a:pPr>
            <a:r>
              <a:rPr lang="en-US"/>
              <a:t> </a:t>
            </a:r>
            <a:endParaRPr/>
          </a:p>
          <a:p>
            <a:pPr indent="-342900" lvl="0" marL="342900" rtl="0" algn="l">
              <a:spcBef>
                <a:spcPts val="304"/>
              </a:spcBef>
              <a:spcAft>
                <a:spcPts val="0"/>
              </a:spcAft>
              <a:buClr>
                <a:schemeClr val="dk1"/>
              </a:buClr>
              <a:buSzPct val="100000"/>
              <a:buNone/>
            </a:pPr>
            <a:r>
              <a:rPr lang="en-US"/>
              <a:t>        Thank you for your continued efforts. Please let me know your personal insights to our success and what we could do to further improve in the future. Keep up the good work!</a:t>
            </a:r>
            <a:endParaRPr/>
          </a:p>
          <a:p>
            <a:pPr indent="-342900" lvl="0" marL="342900" rtl="0" algn="l">
              <a:spcBef>
                <a:spcPts val="304"/>
              </a:spcBef>
              <a:spcAft>
                <a:spcPts val="0"/>
              </a:spcAft>
              <a:buClr>
                <a:schemeClr val="dk1"/>
              </a:buClr>
              <a:buSzPct val="100000"/>
              <a:buNone/>
            </a:pPr>
            <a:r>
              <a:rPr lang="en-US"/>
              <a:t> </a:t>
            </a:r>
            <a:endParaRPr/>
          </a:p>
          <a:p>
            <a:pPr indent="-342900" lvl="0" marL="342900" rtl="0" algn="l">
              <a:spcBef>
                <a:spcPts val="304"/>
              </a:spcBef>
              <a:spcAft>
                <a:spcPts val="0"/>
              </a:spcAft>
              <a:buClr>
                <a:schemeClr val="dk1"/>
              </a:buClr>
              <a:buSzPct val="100000"/>
              <a:buNone/>
            </a:pPr>
            <a:r>
              <a:rPr lang="en-US"/>
              <a:t>         (Signature)</a:t>
            </a:r>
            <a:endParaRPr/>
          </a:p>
          <a:p>
            <a:pPr indent="-342900" lvl="0" marL="342900" rtl="0" algn="l">
              <a:spcBef>
                <a:spcPts val="304"/>
              </a:spcBef>
              <a:spcAft>
                <a:spcPts val="0"/>
              </a:spcAft>
              <a:buClr>
                <a:schemeClr val="dk1"/>
              </a:buClr>
              <a:buSzPct val="100000"/>
              <a:buNone/>
            </a:pPr>
            <a:r>
              <a:t/>
            </a:r>
            <a:endParaRPr/>
          </a:p>
        </p:txBody>
      </p:sp>
      <p:graphicFrame>
        <p:nvGraphicFramePr>
          <p:cNvPr id="132" name="Google Shape;132;p8"/>
          <p:cNvGraphicFramePr/>
          <p:nvPr/>
        </p:nvGraphicFramePr>
        <p:xfrm>
          <a:off x="706582" y="1579418"/>
          <a:ext cx="3000000" cy="3000000"/>
        </p:xfrm>
        <a:graphic>
          <a:graphicData uri="http://schemas.openxmlformats.org/drawingml/2006/table">
            <a:tbl>
              <a:tblPr>
                <a:noFill/>
                <a:tableStyleId>{069C23C3-500C-426C-8562-DBB80E039A40}</a:tableStyleId>
              </a:tblPr>
              <a:tblGrid>
                <a:gridCol w="7897100"/>
              </a:tblGrid>
              <a:tr h="4655125">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graphicFrame>
        <p:nvGraphicFramePr>
          <p:cNvPr id="133" name="Google Shape;133;p8"/>
          <p:cNvGraphicFramePr/>
          <p:nvPr/>
        </p:nvGraphicFramePr>
        <p:xfrm>
          <a:off x="720436" y="1371600"/>
          <a:ext cx="3000000" cy="3000000"/>
        </p:xfrm>
        <a:graphic>
          <a:graphicData uri="http://schemas.openxmlformats.org/drawingml/2006/table">
            <a:tbl>
              <a:tblPr>
                <a:noFill/>
                <a:tableStyleId>{069C23C3-500C-426C-8562-DBB80E039A40}</a:tableStyleId>
              </a:tblPr>
              <a:tblGrid>
                <a:gridCol w="208275"/>
              </a:tblGrid>
              <a:tr h="462750">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Circular Format and Examples</a:t>
            </a:r>
            <a:endParaRPr/>
          </a:p>
        </p:txBody>
      </p:sp>
      <p:sp>
        <p:nvSpPr>
          <p:cNvPr id="139" name="Google Shape;139;p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0000" lnSpcReduction="20000"/>
          </a:bodyPr>
          <a:lstStyle/>
          <a:p>
            <a:pPr indent="-342900" lvl="0" marL="342900" rtl="0" algn="l">
              <a:spcBef>
                <a:spcPts val="0"/>
              </a:spcBef>
              <a:spcAft>
                <a:spcPts val="0"/>
              </a:spcAft>
              <a:buClr>
                <a:schemeClr val="dk1"/>
              </a:buClr>
              <a:buSzPct val="100000"/>
              <a:buNone/>
            </a:pPr>
            <a:r>
              <a:rPr lang="en-US"/>
              <a:t>                                               Name</a:t>
            </a:r>
            <a:endParaRPr/>
          </a:p>
          <a:p>
            <a:pPr indent="-342900" lvl="0" marL="342900" rtl="0" algn="l">
              <a:spcBef>
                <a:spcPts val="448"/>
              </a:spcBef>
              <a:spcAft>
                <a:spcPts val="0"/>
              </a:spcAft>
              <a:buClr>
                <a:schemeClr val="dk1"/>
              </a:buClr>
              <a:buSzPct val="100000"/>
              <a:buNone/>
            </a:pPr>
            <a:r>
              <a:rPr lang="en-US"/>
              <a:t>                                                   &amp;</a:t>
            </a:r>
            <a:endParaRPr/>
          </a:p>
          <a:p>
            <a:pPr indent="-342900" lvl="0" marL="342900" rtl="0" algn="l">
              <a:spcBef>
                <a:spcPts val="448"/>
              </a:spcBef>
              <a:spcAft>
                <a:spcPts val="0"/>
              </a:spcAft>
              <a:buClr>
                <a:schemeClr val="dk1"/>
              </a:buClr>
              <a:buSzPct val="100000"/>
              <a:buNone/>
            </a:pPr>
            <a:r>
              <a:rPr lang="en-US"/>
              <a:t>                                 Address of the organization</a:t>
            </a:r>
            <a:endParaRPr/>
          </a:p>
          <a:p>
            <a:pPr indent="-342900" lvl="0" marL="342900" rtl="0" algn="l">
              <a:spcBef>
                <a:spcPts val="448"/>
              </a:spcBef>
              <a:spcAft>
                <a:spcPts val="0"/>
              </a:spcAft>
              <a:buClr>
                <a:schemeClr val="dk1"/>
              </a:buClr>
              <a:buSzPct val="100000"/>
              <a:buNone/>
            </a:pPr>
            <a:r>
              <a:rPr lang="en-US"/>
              <a:t> </a:t>
            </a:r>
            <a:endParaRPr/>
          </a:p>
          <a:p>
            <a:pPr indent="-342900" lvl="0" marL="342900" rtl="0" algn="l">
              <a:spcBef>
                <a:spcPts val="448"/>
              </a:spcBef>
              <a:spcAft>
                <a:spcPts val="0"/>
              </a:spcAft>
              <a:buClr>
                <a:schemeClr val="dk1"/>
              </a:buClr>
              <a:buSzPct val="100000"/>
              <a:buNone/>
            </a:pPr>
            <a:r>
              <a:rPr lang="en-US"/>
              <a:t>                                           CIRCULAR</a:t>
            </a:r>
            <a:endParaRPr/>
          </a:p>
          <a:p>
            <a:pPr indent="-342900" lvl="0" marL="342900" rtl="0" algn="l">
              <a:spcBef>
                <a:spcPts val="448"/>
              </a:spcBef>
              <a:spcAft>
                <a:spcPts val="0"/>
              </a:spcAft>
              <a:buClr>
                <a:schemeClr val="dk1"/>
              </a:buClr>
              <a:buSzPct val="100000"/>
              <a:buNone/>
            </a:pPr>
            <a:r>
              <a:rPr lang="en-US"/>
              <a:t> </a:t>
            </a:r>
            <a:endParaRPr/>
          </a:p>
          <a:p>
            <a:pPr indent="-342900" lvl="0" marL="342900" rtl="0" algn="l">
              <a:spcBef>
                <a:spcPts val="448"/>
              </a:spcBef>
              <a:spcAft>
                <a:spcPts val="0"/>
              </a:spcAft>
              <a:buClr>
                <a:schemeClr val="dk1"/>
              </a:buClr>
              <a:buSzPct val="100000"/>
              <a:buNone/>
            </a:pPr>
            <a:r>
              <a:rPr lang="en-US"/>
              <a:t>Circular No.:	                                                                             Date:</a:t>
            </a:r>
            <a:endParaRPr/>
          </a:p>
          <a:p>
            <a:pPr indent="-342900" lvl="0" marL="342900" rtl="0" algn="l">
              <a:spcBef>
                <a:spcPts val="448"/>
              </a:spcBef>
              <a:spcAft>
                <a:spcPts val="0"/>
              </a:spcAft>
              <a:buClr>
                <a:schemeClr val="dk1"/>
              </a:buClr>
              <a:buSzPct val="100000"/>
              <a:buNone/>
            </a:pPr>
            <a:r>
              <a:rPr lang="en-US"/>
              <a:t> </a:t>
            </a:r>
            <a:endParaRPr/>
          </a:p>
          <a:p>
            <a:pPr indent="-342900" lvl="0" marL="342900" rtl="0" algn="l">
              <a:spcBef>
                <a:spcPts val="448"/>
              </a:spcBef>
              <a:spcAft>
                <a:spcPts val="0"/>
              </a:spcAft>
              <a:buClr>
                <a:schemeClr val="dk1"/>
              </a:buClr>
              <a:buSzPct val="100000"/>
              <a:buNone/>
            </a:pPr>
            <a:r>
              <a:rPr lang="en-US"/>
              <a:t>                                                 (Body)</a:t>
            </a:r>
            <a:endParaRPr/>
          </a:p>
          <a:p>
            <a:pPr indent="-342900" lvl="0" marL="342900" rtl="0" algn="l">
              <a:spcBef>
                <a:spcPts val="448"/>
              </a:spcBef>
              <a:spcAft>
                <a:spcPts val="0"/>
              </a:spcAft>
              <a:buClr>
                <a:schemeClr val="dk1"/>
              </a:buClr>
              <a:buSzPct val="100000"/>
              <a:buNone/>
            </a:pPr>
            <a:r>
              <a:rPr lang="en-US"/>
              <a:t> </a:t>
            </a:r>
            <a:endParaRPr/>
          </a:p>
          <a:p>
            <a:pPr indent="-342900" lvl="0" marL="342900" rtl="0" algn="l">
              <a:spcBef>
                <a:spcPts val="448"/>
              </a:spcBef>
              <a:spcAft>
                <a:spcPts val="0"/>
              </a:spcAft>
              <a:buClr>
                <a:schemeClr val="dk1"/>
              </a:buClr>
              <a:buSzPct val="100000"/>
              <a:buNone/>
            </a:pPr>
            <a:r>
              <a:rPr lang="en-US"/>
              <a:t>Name</a:t>
            </a:r>
            <a:endParaRPr/>
          </a:p>
          <a:p>
            <a:pPr indent="-342900" lvl="0" marL="342900" rtl="0" algn="l">
              <a:spcBef>
                <a:spcPts val="448"/>
              </a:spcBef>
              <a:spcAft>
                <a:spcPts val="0"/>
              </a:spcAft>
              <a:buClr>
                <a:schemeClr val="dk1"/>
              </a:buClr>
              <a:buSzPct val="100000"/>
              <a:buNone/>
            </a:pPr>
            <a:r>
              <a:rPr lang="en-US"/>
              <a:t>Designation</a:t>
            </a:r>
            <a:endParaRPr/>
          </a:p>
          <a:p>
            <a:pPr indent="-200660" lvl="0" marL="342900" rtl="0" algn="l">
              <a:spcBef>
                <a:spcPts val="448"/>
              </a:spcBef>
              <a:spcAft>
                <a:spcPts val="0"/>
              </a:spcAft>
              <a:buClr>
                <a:schemeClr val="dk1"/>
              </a:buClr>
              <a:buSzPct val="100000"/>
              <a:buNone/>
            </a:pPr>
            <a:r>
              <a:t/>
            </a:r>
            <a:endParaRPr/>
          </a:p>
        </p:txBody>
      </p:sp>
      <p:graphicFrame>
        <p:nvGraphicFramePr>
          <p:cNvPr id="140" name="Google Shape;140;p9"/>
          <p:cNvGraphicFramePr/>
          <p:nvPr/>
        </p:nvGraphicFramePr>
        <p:xfrm>
          <a:off x="304800" y="1219200"/>
          <a:ext cx="3000000" cy="3000000"/>
        </p:xfrm>
        <a:graphic>
          <a:graphicData uri="http://schemas.openxmlformats.org/drawingml/2006/table">
            <a:tbl>
              <a:tblPr>
                <a:noFill/>
                <a:tableStyleId>{069C23C3-500C-426C-8562-DBB80E039A40}</a:tableStyleId>
              </a:tblPr>
              <a:tblGrid>
                <a:gridCol w="8305800"/>
              </a:tblGrid>
              <a:tr h="5271650">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1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146" name="Google Shape;146;p1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47500" lnSpcReduction="20000"/>
          </a:bodyPr>
          <a:lstStyle/>
          <a:p>
            <a:pPr indent="-342900" lvl="0" marL="342900" rtl="0" algn="l">
              <a:spcBef>
                <a:spcPts val="0"/>
              </a:spcBef>
              <a:spcAft>
                <a:spcPts val="0"/>
              </a:spcAft>
              <a:buClr>
                <a:schemeClr val="dk1"/>
              </a:buClr>
              <a:buSzPct val="100000"/>
              <a:buNone/>
            </a:pPr>
            <a:r>
              <a:rPr lang="en-US"/>
              <a:t>			         West Bengal Professors’ Association</a:t>
            </a:r>
            <a:endParaRPr/>
          </a:p>
          <a:p>
            <a:pPr indent="-342900" lvl="0" marL="342900" rtl="0" algn="l">
              <a:spcBef>
                <a:spcPts val="304"/>
              </a:spcBef>
              <a:spcAft>
                <a:spcPts val="0"/>
              </a:spcAft>
              <a:buClr>
                <a:schemeClr val="dk1"/>
              </a:buClr>
              <a:buSzPct val="100000"/>
              <a:buNone/>
            </a:pPr>
            <a:r>
              <a:rPr lang="en-US"/>
              <a:t>				Banerji Road, Calcutta</a:t>
            </a:r>
            <a:endParaRPr/>
          </a:p>
          <a:p>
            <a:pPr indent="-342900" lvl="0" marL="342900" rtl="0" algn="l">
              <a:spcBef>
                <a:spcPts val="304"/>
              </a:spcBef>
              <a:spcAft>
                <a:spcPts val="0"/>
              </a:spcAft>
              <a:buClr>
                <a:schemeClr val="dk1"/>
              </a:buClr>
              <a:buSzPct val="100000"/>
              <a:buNone/>
            </a:pPr>
            <a:r>
              <a:rPr lang="en-US"/>
              <a:t>                                 </a:t>
            </a:r>
            <a:endParaRPr/>
          </a:p>
          <a:p>
            <a:pPr indent="-342900" lvl="0" marL="342900" rtl="0" algn="l">
              <a:spcBef>
                <a:spcPts val="304"/>
              </a:spcBef>
              <a:spcAft>
                <a:spcPts val="0"/>
              </a:spcAft>
              <a:buClr>
                <a:schemeClr val="dk1"/>
              </a:buClr>
              <a:buSzPct val="100000"/>
              <a:buNone/>
            </a:pPr>
            <a:r>
              <a:rPr lang="en-US"/>
              <a:t>                                                                       CIRCULAR</a:t>
            </a:r>
            <a:endParaRPr/>
          </a:p>
          <a:p>
            <a:pPr indent="-342900" lvl="0" marL="342900" rtl="0" algn="l">
              <a:spcBef>
                <a:spcPts val="304"/>
              </a:spcBef>
              <a:spcAft>
                <a:spcPts val="0"/>
              </a:spcAft>
              <a:buClr>
                <a:schemeClr val="dk1"/>
              </a:buClr>
              <a:buSzPct val="100000"/>
              <a:buNone/>
            </a:pPr>
            <a:r>
              <a:rPr lang="en-US"/>
              <a:t> </a:t>
            </a:r>
            <a:endParaRPr/>
          </a:p>
          <a:p>
            <a:pPr indent="-342900" lvl="0" marL="342900" rtl="0" algn="l">
              <a:spcBef>
                <a:spcPts val="304"/>
              </a:spcBef>
              <a:spcAft>
                <a:spcPts val="0"/>
              </a:spcAft>
              <a:buClr>
                <a:schemeClr val="dk1"/>
              </a:buClr>
              <a:buSzPct val="100000"/>
              <a:buNone/>
            </a:pPr>
            <a:r>
              <a:rPr lang="en-US"/>
              <a:t>        Circular No.: WBPA/24JAN18/01				Date:July 15,1988</a:t>
            </a:r>
            <a:endParaRPr/>
          </a:p>
          <a:p>
            <a:pPr indent="-342900" lvl="0" marL="342900" rtl="0" algn="l">
              <a:spcBef>
                <a:spcPts val="304"/>
              </a:spcBef>
              <a:spcAft>
                <a:spcPts val="0"/>
              </a:spcAft>
              <a:buClr>
                <a:schemeClr val="dk1"/>
              </a:buClr>
              <a:buSzPct val="100000"/>
              <a:buNone/>
            </a:pPr>
            <a:r>
              <a:rPr lang="en-US"/>
              <a:t> </a:t>
            </a:r>
            <a:endParaRPr/>
          </a:p>
          <a:p>
            <a:pPr indent="-342900" lvl="0" marL="342900" rtl="0" algn="l">
              <a:spcBef>
                <a:spcPts val="304"/>
              </a:spcBef>
              <a:spcAft>
                <a:spcPts val="0"/>
              </a:spcAft>
              <a:buClr>
                <a:schemeClr val="dk1"/>
              </a:buClr>
              <a:buSzPct val="100000"/>
              <a:buNone/>
            </a:pPr>
            <a:r>
              <a:rPr lang="en-US"/>
              <a:t> </a:t>
            </a:r>
            <a:endParaRPr/>
          </a:p>
          <a:p>
            <a:pPr indent="-342900" lvl="0" marL="342900" rtl="0" algn="l">
              <a:spcBef>
                <a:spcPts val="304"/>
              </a:spcBef>
              <a:spcAft>
                <a:spcPts val="0"/>
              </a:spcAft>
              <a:buClr>
                <a:schemeClr val="dk1"/>
              </a:buClr>
              <a:buSzPct val="100000"/>
              <a:buNone/>
            </a:pPr>
            <a:r>
              <a:rPr lang="en-US"/>
              <a:t>         To All Members</a:t>
            </a:r>
            <a:endParaRPr/>
          </a:p>
          <a:p>
            <a:pPr indent="-342900" lvl="0" marL="342900" rtl="0" algn="l">
              <a:spcBef>
                <a:spcPts val="304"/>
              </a:spcBef>
              <a:spcAft>
                <a:spcPts val="0"/>
              </a:spcAft>
              <a:buClr>
                <a:schemeClr val="dk1"/>
              </a:buClr>
              <a:buSzPct val="100000"/>
              <a:buNone/>
            </a:pPr>
            <a:r>
              <a:rPr lang="en-US"/>
              <a:t> </a:t>
            </a:r>
            <a:endParaRPr/>
          </a:p>
          <a:p>
            <a:pPr indent="-342900" lvl="0" marL="342900" rtl="0" algn="l">
              <a:spcBef>
                <a:spcPts val="304"/>
              </a:spcBef>
              <a:spcAft>
                <a:spcPts val="0"/>
              </a:spcAft>
              <a:buClr>
                <a:schemeClr val="dk1"/>
              </a:buClr>
              <a:buSzPct val="100000"/>
              <a:buNone/>
            </a:pPr>
            <a:r>
              <a:rPr lang="en-US"/>
              <a:t>        The undersigned has the pleasure to inform you that Calcutta Book Club, a premier publishing firm, has offered to the Association 50 copies of its forthcoming publication named ‘Commerce Manual’ at a concessional rate of Rs. 100.00 per copy (market price being Rs, 125.00) for its members.</a:t>
            </a:r>
            <a:endParaRPr/>
          </a:p>
          <a:p>
            <a:pPr indent="-342900" lvl="0" marL="342900" rtl="0" algn="l">
              <a:spcBef>
                <a:spcPts val="304"/>
              </a:spcBef>
              <a:spcAft>
                <a:spcPts val="0"/>
              </a:spcAft>
              <a:buClr>
                <a:schemeClr val="dk1"/>
              </a:buClr>
              <a:buSzPct val="100000"/>
              <a:buNone/>
            </a:pPr>
            <a:r>
              <a:rPr lang="en-US"/>
              <a:t> </a:t>
            </a:r>
            <a:endParaRPr/>
          </a:p>
          <a:p>
            <a:pPr indent="-342900" lvl="0" marL="342900" rtl="0" algn="l">
              <a:spcBef>
                <a:spcPts val="304"/>
              </a:spcBef>
              <a:spcAft>
                <a:spcPts val="0"/>
              </a:spcAft>
              <a:buClr>
                <a:schemeClr val="dk1"/>
              </a:buClr>
              <a:buSzPct val="100000"/>
              <a:buNone/>
            </a:pPr>
            <a:r>
              <a:rPr lang="en-US"/>
              <a:t>        Any member intending to buy a copy may deposit the amount with the Office Secretary of the Association on or before 14.8.88.</a:t>
            </a:r>
            <a:endParaRPr/>
          </a:p>
          <a:p>
            <a:pPr indent="-342900" lvl="0" marL="342900" rtl="0" algn="l">
              <a:spcBef>
                <a:spcPts val="304"/>
              </a:spcBef>
              <a:spcAft>
                <a:spcPts val="0"/>
              </a:spcAft>
              <a:buClr>
                <a:schemeClr val="dk1"/>
              </a:buClr>
              <a:buSzPct val="100000"/>
              <a:buNone/>
            </a:pPr>
            <a:r>
              <a:rPr lang="en-US"/>
              <a:t> </a:t>
            </a:r>
            <a:endParaRPr/>
          </a:p>
          <a:p>
            <a:pPr indent="-342900" lvl="0" marL="342900" rtl="0" algn="l">
              <a:spcBef>
                <a:spcPts val="304"/>
              </a:spcBef>
              <a:spcAft>
                <a:spcPts val="0"/>
              </a:spcAft>
              <a:buClr>
                <a:schemeClr val="dk1"/>
              </a:buClr>
              <a:buSzPct val="100000"/>
              <a:buNone/>
            </a:pPr>
            <a:r>
              <a:rPr lang="en-US"/>
              <a:t>        Preetha Manohar</a:t>
            </a:r>
            <a:endParaRPr/>
          </a:p>
          <a:p>
            <a:pPr indent="-342900" lvl="0" marL="342900" rtl="0" algn="l">
              <a:spcBef>
                <a:spcPts val="304"/>
              </a:spcBef>
              <a:spcAft>
                <a:spcPts val="0"/>
              </a:spcAft>
              <a:buClr>
                <a:schemeClr val="dk1"/>
              </a:buClr>
              <a:buSzPct val="100000"/>
              <a:buNone/>
            </a:pPr>
            <a:r>
              <a:rPr lang="en-US"/>
              <a:t>         President</a:t>
            </a:r>
            <a:endParaRPr/>
          </a:p>
          <a:p>
            <a:pPr indent="-246380" lvl="0" marL="342900" rtl="0" algn="l">
              <a:spcBef>
                <a:spcPts val="304"/>
              </a:spcBef>
              <a:spcAft>
                <a:spcPts val="0"/>
              </a:spcAft>
              <a:buClr>
                <a:schemeClr val="dk1"/>
              </a:buClr>
              <a:buSzPct val="100000"/>
              <a:buNone/>
            </a:pPr>
            <a:r>
              <a:t/>
            </a:r>
            <a:endParaRPr/>
          </a:p>
        </p:txBody>
      </p:sp>
      <p:graphicFrame>
        <p:nvGraphicFramePr>
          <p:cNvPr id="147" name="Google Shape;147;p10"/>
          <p:cNvGraphicFramePr/>
          <p:nvPr/>
        </p:nvGraphicFramePr>
        <p:xfrm>
          <a:off x="609600" y="1447800"/>
          <a:ext cx="3000000" cy="3000000"/>
        </p:xfrm>
        <a:graphic>
          <a:graphicData uri="http://schemas.openxmlformats.org/drawingml/2006/table">
            <a:tbl>
              <a:tblPr>
                <a:noFill/>
                <a:tableStyleId>{069C23C3-500C-426C-8562-DBB80E039A40}</a:tableStyleId>
              </a:tblPr>
              <a:tblGrid>
                <a:gridCol w="8174175"/>
              </a:tblGrid>
              <a:tr h="4495800">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153" name="Google Shape;153;p11"/>
          <p:cNvSpPr txBox="1"/>
          <p:nvPr>
            <p:ph idx="1" type="body"/>
          </p:nvPr>
        </p:nvSpPr>
        <p:spPr>
          <a:xfrm>
            <a:off x="533400" y="1600201"/>
            <a:ext cx="8153400" cy="4190999"/>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1200"/>
              <a:buNone/>
            </a:pPr>
            <a:r>
              <a:rPr b="1" lang="en-US" sz="1200"/>
              <a:t>                                                                                     XYZ Company</a:t>
            </a:r>
            <a:endParaRPr sz="1200"/>
          </a:p>
          <a:p>
            <a:pPr indent="-342900" lvl="0" marL="342900" rtl="0" algn="l">
              <a:spcBef>
                <a:spcPts val="240"/>
              </a:spcBef>
              <a:spcAft>
                <a:spcPts val="0"/>
              </a:spcAft>
              <a:buClr>
                <a:schemeClr val="dk1"/>
              </a:buClr>
              <a:buSzPts val="1200"/>
              <a:buNone/>
            </a:pPr>
            <a:r>
              <a:rPr lang="en-US" sz="1200"/>
              <a:t>		                                          2/6, Mohakhali, Dhaka-1212</a:t>
            </a:r>
            <a:endParaRPr/>
          </a:p>
          <a:p>
            <a:pPr indent="-342900" lvl="0" marL="342900" rtl="0" algn="l">
              <a:spcBef>
                <a:spcPts val="240"/>
              </a:spcBef>
              <a:spcAft>
                <a:spcPts val="0"/>
              </a:spcAft>
              <a:buClr>
                <a:schemeClr val="dk1"/>
              </a:buClr>
              <a:buSzPts val="1200"/>
              <a:buNone/>
            </a:pPr>
            <a:r>
              <a:rPr lang="en-US" sz="1200"/>
              <a:t>                                                                                 </a:t>
            </a:r>
            <a:endParaRPr/>
          </a:p>
          <a:p>
            <a:pPr indent="-342900" lvl="0" marL="342900" rtl="0" algn="l">
              <a:spcBef>
                <a:spcPts val="240"/>
              </a:spcBef>
              <a:spcAft>
                <a:spcPts val="0"/>
              </a:spcAft>
              <a:buClr>
                <a:schemeClr val="dk1"/>
              </a:buClr>
              <a:buSzPts val="1200"/>
              <a:buNone/>
            </a:pPr>
            <a:r>
              <a:rPr lang="en-US" sz="1200"/>
              <a:t>                                                                                          CIRCULAR</a:t>
            </a:r>
            <a:endParaRPr sz="1200"/>
          </a:p>
          <a:p>
            <a:pPr indent="-342900" lvl="0" marL="342900" rtl="0" algn="l">
              <a:spcBef>
                <a:spcPts val="240"/>
              </a:spcBef>
              <a:spcAft>
                <a:spcPts val="0"/>
              </a:spcAft>
              <a:buClr>
                <a:schemeClr val="dk1"/>
              </a:buClr>
              <a:buSzPts val="1200"/>
              <a:buNone/>
            </a:pPr>
            <a:r>
              <a:rPr lang="en-US" sz="1200"/>
              <a:t> </a:t>
            </a:r>
            <a:endParaRPr sz="1200"/>
          </a:p>
          <a:p>
            <a:pPr indent="-342900" lvl="0" marL="342900" rtl="0" algn="l">
              <a:spcBef>
                <a:spcPts val="240"/>
              </a:spcBef>
              <a:spcAft>
                <a:spcPts val="0"/>
              </a:spcAft>
              <a:buClr>
                <a:schemeClr val="dk1"/>
              </a:buClr>
              <a:buSzPts val="1200"/>
              <a:buNone/>
            </a:pPr>
            <a:r>
              <a:rPr lang="en-US" sz="1200"/>
              <a:t>         Circular No.: XYZ/02B1/01					Date: 26 Aug 2012</a:t>
            </a:r>
            <a:endParaRPr sz="1200"/>
          </a:p>
          <a:p>
            <a:pPr indent="-342900" lvl="0" marL="342900" rtl="0" algn="l">
              <a:spcBef>
                <a:spcPts val="240"/>
              </a:spcBef>
              <a:spcAft>
                <a:spcPts val="0"/>
              </a:spcAft>
              <a:buClr>
                <a:schemeClr val="dk1"/>
              </a:buClr>
              <a:buSzPts val="1200"/>
              <a:buNone/>
            </a:pPr>
            <a:r>
              <a:rPr lang="en-US" sz="1200"/>
              <a:t> </a:t>
            </a:r>
            <a:endParaRPr sz="1200"/>
          </a:p>
          <a:p>
            <a:pPr indent="-342900" lvl="0" marL="342900" rtl="0" algn="l">
              <a:spcBef>
                <a:spcPts val="240"/>
              </a:spcBef>
              <a:spcAft>
                <a:spcPts val="0"/>
              </a:spcAft>
              <a:buClr>
                <a:schemeClr val="dk1"/>
              </a:buClr>
              <a:buSzPts val="1200"/>
              <a:buNone/>
            </a:pPr>
            <a:r>
              <a:rPr lang="en-US" sz="1200"/>
              <a:t>          This is to inform all our employees that there will be a staff meeting at 9:00 am on Monday, 27th August, 2012. Attendance to this meeting is compulsory for all our employees. This meeting will last for 2 hours and there will be a discussion regarding the strategies we will follow to boost sales in the coming month. The details of the staff meeting are provided below.</a:t>
            </a:r>
            <a:endParaRPr sz="1200"/>
          </a:p>
          <a:p>
            <a:pPr indent="-342900" lvl="0" marL="342900" rtl="0" algn="l">
              <a:spcBef>
                <a:spcPts val="240"/>
              </a:spcBef>
              <a:spcAft>
                <a:spcPts val="0"/>
              </a:spcAft>
              <a:buClr>
                <a:schemeClr val="dk1"/>
              </a:buClr>
              <a:buSzPts val="1200"/>
              <a:buNone/>
            </a:pPr>
            <a:r>
              <a:rPr lang="en-US" sz="1200"/>
              <a:t> </a:t>
            </a:r>
            <a:endParaRPr sz="1200"/>
          </a:p>
          <a:p>
            <a:pPr indent="-342900" lvl="0" marL="342900" rtl="0" algn="l">
              <a:spcBef>
                <a:spcPts val="240"/>
              </a:spcBef>
              <a:spcAft>
                <a:spcPts val="0"/>
              </a:spcAft>
              <a:buClr>
                <a:schemeClr val="dk1"/>
              </a:buClr>
              <a:buSzPts val="1200"/>
              <a:buNone/>
            </a:pPr>
            <a:r>
              <a:rPr lang="en-US" sz="1200"/>
              <a:t>        Venue: New Bay Conference Hall, Main Office, Building 101, Diamond Solitaire Complex, San Francisco.</a:t>
            </a:r>
            <a:endParaRPr sz="1200"/>
          </a:p>
          <a:p>
            <a:pPr indent="-342900" lvl="0" marL="342900" rtl="0" algn="l">
              <a:spcBef>
                <a:spcPts val="240"/>
              </a:spcBef>
              <a:spcAft>
                <a:spcPts val="0"/>
              </a:spcAft>
              <a:buClr>
                <a:schemeClr val="dk1"/>
              </a:buClr>
              <a:buSzPts val="1200"/>
              <a:buNone/>
            </a:pPr>
            <a:r>
              <a:rPr lang="en-US" sz="1200"/>
              <a:t>        Time: 9:00 am to 11:00 am</a:t>
            </a:r>
            <a:endParaRPr sz="1200"/>
          </a:p>
          <a:p>
            <a:pPr indent="-342900" lvl="0" marL="342900" rtl="0" algn="l">
              <a:spcBef>
                <a:spcPts val="240"/>
              </a:spcBef>
              <a:spcAft>
                <a:spcPts val="0"/>
              </a:spcAft>
              <a:buClr>
                <a:schemeClr val="dk1"/>
              </a:buClr>
              <a:buSzPts val="1200"/>
              <a:buNone/>
            </a:pPr>
            <a:r>
              <a:rPr lang="en-US" sz="1200"/>
              <a:t>         Meeting to be presided by: Mr. Eric Smith (CEO, Adventure Informatics Private Limited)</a:t>
            </a:r>
            <a:endParaRPr sz="1200"/>
          </a:p>
          <a:p>
            <a:pPr indent="-342900" lvl="0" marL="342900" rtl="0" algn="l">
              <a:spcBef>
                <a:spcPts val="240"/>
              </a:spcBef>
              <a:spcAft>
                <a:spcPts val="0"/>
              </a:spcAft>
              <a:buClr>
                <a:schemeClr val="dk1"/>
              </a:buClr>
              <a:buSzPts val="1200"/>
              <a:buNone/>
            </a:pPr>
            <a:r>
              <a:rPr lang="en-US" sz="1200"/>
              <a:t> </a:t>
            </a:r>
            <a:endParaRPr sz="1200"/>
          </a:p>
          <a:p>
            <a:pPr indent="-342900" lvl="0" marL="342900" rtl="0" algn="l">
              <a:spcBef>
                <a:spcPts val="240"/>
              </a:spcBef>
              <a:spcAft>
                <a:spcPts val="0"/>
              </a:spcAft>
              <a:buClr>
                <a:schemeClr val="dk1"/>
              </a:buClr>
              <a:buSzPts val="1200"/>
              <a:buNone/>
            </a:pPr>
            <a:r>
              <a:rPr lang="en-US" sz="1200"/>
              <a:t>         Agenda of the staff meeting:</a:t>
            </a:r>
            <a:endParaRPr sz="1200"/>
          </a:p>
          <a:p>
            <a:pPr indent="-342900" lvl="0" marL="342900" rtl="0" algn="l">
              <a:spcBef>
                <a:spcPts val="240"/>
              </a:spcBef>
              <a:spcAft>
                <a:spcPts val="0"/>
              </a:spcAft>
              <a:buClr>
                <a:schemeClr val="dk1"/>
              </a:buClr>
              <a:buSzPts val="1200"/>
              <a:buNone/>
            </a:pPr>
            <a:r>
              <a:rPr lang="en-US" sz="1200"/>
              <a:t>         Discussion regarding sales strategies</a:t>
            </a:r>
            <a:endParaRPr sz="1200"/>
          </a:p>
          <a:p>
            <a:pPr indent="-342900" lvl="0" marL="342900" rtl="0" algn="l">
              <a:spcBef>
                <a:spcPts val="240"/>
              </a:spcBef>
              <a:spcAft>
                <a:spcPts val="0"/>
              </a:spcAft>
              <a:buClr>
                <a:schemeClr val="dk1"/>
              </a:buClr>
              <a:buSzPts val="1200"/>
              <a:buNone/>
            </a:pPr>
            <a:r>
              <a:rPr lang="en-US" sz="1200"/>
              <a:t>         Evaluation of current sales and marketing campaigns</a:t>
            </a:r>
            <a:endParaRPr sz="1200"/>
          </a:p>
          <a:p>
            <a:pPr indent="-342900" lvl="0" marL="342900" rtl="0" algn="l">
              <a:spcBef>
                <a:spcPts val="240"/>
              </a:spcBef>
              <a:spcAft>
                <a:spcPts val="0"/>
              </a:spcAft>
              <a:buClr>
                <a:schemeClr val="dk1"/>
              </a:buClr>
              <a:buSzPts val="1200"/>
              <a:buNone/>
            </a:pPr>
            <a:r>
              <a:rPr lang="en-US" sz="1200"/>
              <a:t>         Formulation of sales and publicity campaigns</a:t>
            </a:r>
            <a:endParaRPr/>
          </a:p>
          <a:p>
            <a:pPr indent="-342900" lvl="0" marL="342900" rtl="0" algn="l">
              <a:spcBef>
                <a:spcPts val="240"/>
              </a:spcBef>
              <a:spcAft>
                <a:spcPts val="0"/>
              </a:spcAft>
              <a:buClr>
                <a:schemeClr val="dk1"/>
              </a:buClr>
              <a:buSzPts val="1200"/>
              <a:buNone/>
            </a:pPr>
            <a:r>
              <a:t/>
            </a:r>
            <a:endParaRPr sz="1200"/>
          </a:p>
          <a:p>
            <a:pPr indent="-342900" lvl="0" marL="342900" rtl="0" algn="l">
              <a:spcBef>
                <a:spcPts val="240"/>
              </a:spcBef>
              <a:spcAft>
                <a:spcPts val="0"/>
              </a:spcAft>
              <a:buClr>
                <a:schemeClr val="dk1"/>
              </a:buClr>
              <a:buSzPts val="1200"/>
              <a:buNone/>
            </a:pPr>
            <a:r>
              <a:rPr lang="en-US" sz="1200"/>
              <a:t>         Name</a:t>
            </a:r>
            <a:endParaRPr/>
          </a:p>
          <a:p>
            <a:pPr indent="-342900" lvl="0" marL="342900" rtl="0" algn="l">
              <a:spcBef>
                <a:spcPts val="240"/>
              </a:spcBef>
              <a:spcAft>
                <a:spcPts val="0"/>
              </a:spcAft>
              <a:buClr>
                <a:schemeClr val="dk1"/>
              </a:buClr>
              <a:buSzPts val="1200"/>
              <a:buNone/>
            </a:pPr>
            <a:r>
              <a:rPr lang="en-US" sz="1200"/>
              <a:t>         Designation</a:t>
            </a:r>
            <a:endParaRPr/>
          </a:p>
        </p:txBody>
      </p:sp>
      <p:graphicFrame>
        <p:nvGraphicFramePr>
          <p:cNvPr id="154" name="Google Shape;154;p11"/>
          <p:cNvGraphicFramePr/>
          <p:nvPr/>
        </p:nvGraphicFramePr>
        <p:xfrm>
          <a:off x="637309" y="1648691"/>
          <a:ext cx="3000000" cy="3000000"/>
        </p:xfrm>
        <a:graphic>
          <a:graphicData uri="http://schemas.openxmlformats.org/drawingml/2006/table">
            <a:tbl>
              <a:tblPr>
                <a:noFill/>
                <a:tableStyleId>{069C23C3-500C-426C-8562-DBB80E039A40}</a:tableStyleId>
              </a:tblPr>
              <a:tblGrid>
                <a:gridCol w="8091050"/>
              </a:tblGrid>
              <a:tr h="4959925">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admin</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0x010100D4F8EED0E726D84BAD0EF63463CDD252</vt:lpwstr>
  </property>
</Properties>
</file>