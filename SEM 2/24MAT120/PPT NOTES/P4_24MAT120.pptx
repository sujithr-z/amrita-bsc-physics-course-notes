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1" r:id="rId10"/>
    <p:sldId id="267" r:id="rId11"/>
    <p:sldId id="270" r:id="rId12"/>
    <p:sldId id="273" r:id="rId13"/>
    <p:sldId id="269" r:id="rId14"/>
    <p:sldId id="275" r:id="rId15"/>
    <p:sldId id="274" r:id="rId16"/>
    <p:sldId id="276" r:id="rId17"/>
    <p:sldId id="272" r:id="rId18"/>
    <p:sldId id="268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5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B227-B319-9ABC-2651-F4CD01873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FDB83-79FF-7324-2FAD-2229D0AAD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E5B3A-F90A-99F8-281A-B763B613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44C2D-3655-4CB3-D748-D3C68EAC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361E6-C437-3ED3-81A3-4CBEC698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9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C2BA-C56F-1750-2D05-5B2F2F4B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F995-D190-8B55-9599-E2771D8D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9D44-8CB9-DE73-3360-82B988D2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1EC4A-F79A-DB05-A973-5243CF48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CAF7D-836C-EC78-0484-67D49A4C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7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9A42-C27A-9C66-403A-BA387E49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4C5D1-E9F9-7911-BDB4-300F76AB1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670-49CC-879D-C676-6CE17E55C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6DE82-7361-D13B-E44E-8928B5D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C2BA3-4132-1DC6-6EDF-99E44BD6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F21-E9BC-C8D4-3AE9-16A5B927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652A4-38AF-C113-684C-ACEC7457C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4AA5B-5D9F-8766-006C-1873CD51E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53A46-F3F1-D804-48A0-4399271E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E95BC-9753-EB15-8F59-204B3439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0246E-17DF-AA7C-368F-696C9C3C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607C-E545-2770-2B98-808E7D2E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53F33-CD2D-F9DE-2DD7-180CAFAD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A0131-5629-0359-997D-94717C87E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3C73B-82A4-CF16-4A2E-9C18C898D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C126A-82EF-257A-A2A3-E8B4EED62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CF755-112D-89DC-54A6-2017B58C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9C50E-B2CE-9E7F-155B-E45D47F7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5DC01-3CBE-2394-8B99-F68AAAC4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0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E9C0-0117-D2F8-6549-AB6CBA1A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81A57-71F1-A788-FF6E-9CC57721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F74EC-4148-6C2E-DDFE-3BD8A4B3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32803-DEC0-647A-D3CD-A492191A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719C7-C55C-0A76-7A77-20330F32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42EB3-2A87-A2B3-E434-D7800C92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757C9-4217-46E6-F1DD-6A4D3D4F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8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3C6D-382A-EF90-6405-708CA73F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FA59-8D90-D9C0-6C16-5CC7A711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2524C-4CE2-D120-3082-7936639E5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FB453-0009-5176-7599-10604738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1CB8C-DD36-B4AE-FD84-546C02AA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BDA17-BC2C-7B90-C1C4-01AC24A7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1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6539-13A6-A3CA-24D4-081BF6B8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0E8D3-042A-16AB-FDF9-D7C2DE586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A2953-D752-351C-EA7B-5E790E859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1116E-67AE-9329-F408-3AA90A4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27326-76F0-D893-A330-1E5430CF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E7B3F-9D51-17EE-63B5-172D08E1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8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AA26-9D6E-D489-14BE-FBB4EF4D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7E311-1C02-2273-17FB-AD7145D5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1AB6-A2D2-1768-0E7A-0D66E7DC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B2D7-C91C-CE5D-32FA-E15E169A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5B8CD-938A-D1F5-9881-1E99319F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3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577B3-8533-1721-3FE0-270B1E575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D3C8A-2EC0-3BD4-81AC-32BD4ABCE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4A0C-3412-9DCE-330F-0CB77A2A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28EDC-DEBF-C94C-7FB6-2BFCB3D6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D483D-02A6-9380-4F48-55435698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8E798-9093-F99E-3D4C-C6D05C86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A43E1-7661-794E-738D-06BA60B01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45DB7-1FED-41EF-1516-7BEED4B3B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8C38F-C6BA-3E4C-9ACA-1E048F00494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1384-4B10-22EE-8934-7830C08C4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2FE8C-F14A-F986-6A29-02E2FD27E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BF99-F7E6-AF4E-BA32-E9749D3A2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3611-2D16-5025-1254-112ABA760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D1E68-71B9-C08D-860D-D32FEFCD6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P/M</a:t>
            </a:r>
          </a:p>
        </p:txBody>
      </p:sp>
    </p:spTree>
    <p:extLst>
      <p:ext uri="{BB962C8B-B14F-4D97-AF65-F5344CB8AC3E}">
        <p14:creationId xmlns:p14="http://schemas.microsoft.com/office/powerpoint/2010/main" val="5213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ection of different colored spirals&#10;&#10;AI-generated content may be incorrect.">
            <a:extLst>
              <a:ext uri="{FF2B5EF4-FFF2-40B4-BE49-F238E27FC236}">
                <a16:creationId xmlns:a16="http://schemas.microsoft.com/office/drawing/2014/main" id="{85653DE0-0715-FA8F-51CA-FEF17A8D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78" y="510721"/>
            <a:ext cx="3721100" cy="5168900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8F2395AB-2ED8-9BF4-CCB5-0A0B2ECEA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91" y="844549"/>
            <a:ext cx="2973161" cy="439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text with black text&#10;&#10;AI-generated content may be incorrect.">
            <a:extLst>
              <a:ext uri="{FF2B5EF4-FFF2-40B4-BE49-F238E27FC236}">
                <a16:creationId xmlns:a16="http://schemas.microsoft.com/office/drawing/2014/main" id="{0D88E0B9-7A8B-76CA-3D45-C8EDAD34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8825"/>
            <a:ext cx="10905066" cy="39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06F3F050-7E46-60FA-BD31-E7B0A544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429"/>
          <a:stretch>
            <a:fillRect/>
          </a:stretch>
        </p:blipFill>
        <p:spPr>
          <a:xfrm>
            <a:off x="856343" y="1615923"/>
            <a:ext cx="10755086" cy="327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8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B22FC507-9E83-D992-F75F-2EB9139C9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55"/>
          <a:stretch>
            <a:fillRect/>
          </a:stretch>
        </p:blipFill>
        <p:spPr>
          <a:xfrm>
            <a:off x="1285014" y="232228"/>
            <a:ext cx="8764991" cy="61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5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oint&#10;&#10;AI-generated content may be incorrect.">
            <a:extLst>
              <a:ext uri="{FF2B5EF4-FFF2-40B4-BE49-F238E27FC236}">
                <a16:creationId xmlns:a16="http://schemas.microsoft.com/office/drawing/2014/main" id="{415E6D2E-BCE8-7B78-AE1C-C73BD8D1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993" y="643466"/>
            <a:ext cx="30780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7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le with a circle and a circle with a circle and a circle with a circle with a circle and a circle with a circle with a circle with a circle with a circle with&#10;&#10;AI-generated content may be incorrect.">
            <a:extLst>
              <a:ext uri="{FF2B5EF4-FFF2-40B4-BE49-F238E27FC236}">
                <a16:creationId xmlns:a16="http://schemas.microsoft.com/office/drawing/2014/main" id="{0E65E644-6D9C-9F2C-895C-810A61ABD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1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sign with black text&#10;&#10;AI-generated content may be incorrect.">
            <a:extLst>
              <a:ext uri="{FF2B5EF4-FFF2-40B4-BE49-F238E27FC236}">
                <a16:creationId xmlns:a16="http://schemas.microsoft.com/office/drawing/2014/main" id="{74E177C8-E7D7-7E55-9560-AB841DF08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70225"/>
            <a:ext cx="10905066" cy="171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3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area&#10;&#10;AI-generated content may be incorrect.">
            <a:extLst>
              <a:ext uri="{FF2B5EF4-FFF2-40B4-BE49-F238E27FC236}">
                <a16:creationId xmlns:a16="http://schemas.microsoft.com/office/drawing/2014/main" id="{1A801A50-46A2-DD9B-F854-AFA860381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562" y="643466"/>
            <a:ext cx="52228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4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3138A14-D006-C330-40A3-81808791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83969"/>
            <a:ext cx="10905066" cy="22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0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8993-AE5C-3843-3383-3AE81E77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61" y="462708"/>
            <a:ext cx="10791940" cy="5714255"/>
          </a:xfrm>
        </p:spPr>
        <p:txBody>
          <a:bodyPr>
            <a:normAutofit/>
          </a:bodyPr>
          <a:lstStyle/>
          <a:p>
            <a:endParaRPr lang="en-IN" sz="3200" dirty="0"/>
          </a:p>
          <a:p>
            <a:r>
              <a:rPr lang="en-IN" sz="3200" dirty="0"/>
              <a:t>If the surface z = f(x, y) is cut by the horizontal plane z = k, then at all points on the intersection we have f(x, y)= k. </a:t>
            </a:r>
          </a:p>
          <a:p>
            <a:endParaRPr lang="en-IN" sz="3200" dirty="0"/>
          </a:p>
          <a:p>
            <a:r>
              <a:rPr lang="en-IN" sz="3200" dirty="0"/>
              <a:t>The projection of this intersection onto the </a:t>
            </a:r>
            <a:r>
              <a:rPr lang="en-IN" sz="3200" i="1" dirty="0" err="1"/>
              <a:t>xy</a:t>
            </a:r>
            <a:r>
              <a:rPr lang="en-IN" sz="3200" dirty="0"/>
              <a:t>-plane is called the </a:t>
            </a:r>
            <a:r>
              <a:rPr lang="en-IN" sz="3200" b="1" i="1" dirty="0"/>
              <a:t>level</a:t>
            </a:r>
            <a:r>
              <a:rPr lang="en-IN" sz="3200" dirty="0"/>
              <a:t> </a:t>
            </a:r>
            <a:r>
              <a:rPr lang="en-IN" sz="3200" b="1" i="1" dirty="0"/>
              <a:t>curve of height k </a:t>
            </a:r>
            <a:r>
              <a:rPr lang="en-IN" sz="3200" dirty="0"/>
              <a:t>or the </a:t>
            </a:r>
            <a:r>
              <a:rPr lang="en-IN" sz="3200" b="1" i="1" dirty="0"/>
              <a:t>level curve with constant k.</a:t>
            </a:r>
          </a:p>
          <a:p>
            <a:endParaRPr lang="en-IN" sz="3200" b="1" i="1" dirty="0"/>
          </a:p>
          <a:p>
            <a:r>
              <a:rPr lang="en-IN" sz="3200" dirty="0"/>
              <a:t>A set of level curves for z = f(x, y) is called a </a:t>
            </a:r>
            <a:r>
              <a:rPr lang="en-IN" sz="3200" b="1" i="1" dirty="0"/>
              <a:t>contour plot </a:t>
            </a:r>
            <a:r>
              <a:rPr lang="en-IN" sz="3200" dirty="0"/>
              <a:t>or </a:t>
            </a:r>
            <a:r>
              <a:rPr lang="en-IN" sz="3200" b="1" i="1" dirty="0"/>
              <a:t>contour map </a:t>
            </a:r>
            <a:r>
              <a:rPr lang="en-IN" sz="3200" dirty="0"/>
              <a:t>of f.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483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e with a line and a line&#10;&#10;AI-generated content may be incorrect.">
            <a:extLst>
              <a:ext uri="{FF2B5EF4-FFF2-40B4-BE49-F238E27FC236}">
                <a16:creationId xmlns:a16="http://schemas.microsoft.com/office/drawing/2014/main" id="{821DFABB-7991-C27C-4C32-E4CC395E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336" y="812688"/>
            <a:ext cx="4419982" cy="52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5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e with text&#10;&#10;AI-generated content may be incorrect.">
            <a:extLst>
              <a:ext uri="{FF2B5EF4-FFF2-40B4-BE49-F238E27FC236}">
                <a16:creationId xmlns:a16="http://schemas.microsoft.com/office/drawing/2014/main" id="{F8B9C690-CE50-F50F-C7E0-75B4B850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0" y="215900"/>
            <a:ext cx="39878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7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F00723-CC70-F10F-0DE6-AF59AB6CB3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F00723-CC70-F10F-0DE6-AF59AB6CB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468D11D8-1E4B-A6C2-A7D5-536F4A862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51552"/>
            <a:ext cx="7772400" cy="37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 with numbers and lines&#10;&#10;AI-generated content may be incorrect.">
            <a:extLst>
              <a:ext uri="{FF2B5EF4-FFF2-40B4-BE49-F238E27FC236}">
                <a16:creationId xmlns:a16="http://schemas.microsoft.com/office/drawing/2014/main" id="{5F012F55-483B-5085-BCB0-2D5096F4D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08" y="1560952"/>
            <a:ext cx="5788140" cy="263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0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227751F3-FCCD-51FD-7849-415F710D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43"/>
          <a:stretch>
            <a:fillRect/>
          </a:stretch>
        </p:blipFill>
        <p:spPr>
          <a:xfrm>
            <a:off x="1124783" y="882147"/>
            <a:ext cx="8843676" cy="509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98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e and a contour&#10;&#10;AI-generated content may be incorrect.">
            <a:extLst>
              <a:ext uri="{FF2B5EF4-FFF2-40B4-BE49-F238E27FC236}">
                <a16:creationId xmlns:a16="http://schemas.microsoft.com/office/drawing/2014/main" id="{5C42B5C0-2797-8415-C15C-D283F3693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987550"/>
            <a:ext cx="70866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95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A36162BB-3219-6423-4397-CD12ACFA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02401"/>
            <a:ext cx="10905066" cy="365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8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ructure of a sphere&#10;&#10;AI-generated content may be incorrect.">
            <a:extLst>
              <a:ext uri="{FF2B5EF4-FFF2-40B4-BE49-F238E27FC236}">
                <a16:creationId xmlns:a16="http://schemas.microsoft.com/office/drawing/2014/main" id="{66948C6B-49EF-2ECA-36CB-276FF5056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654050"/>
            <a:ext cx="45974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7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95</Words>
  <Application>Microsoft Macintosh PowerPoint</Application>
  <PresentationFormat>Widescreen</PresentationFormat>
  <Paragraphs>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〖z=y〗^2-x^2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3</cp:revision>
  <dcterms:created xsi:type="dcterms:W3CDTF">2026-02-17T07:58:40Z</dcterms:created>
  <dcterms:modified xsi:type="dcterms:W3CDTF">2026-02-18T10:29:04Z</dcterms:modified>
</cp:coreProperties>
</file>