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1"/>
  </p:normalViewPr>
  <p:slideViewPr>
    <p:cSldViewPr snapToGrid="0">
      <p:cViewPr varScale="1">
        <p:scale>
          <a:sx n="116" d="100"/>
          <a:sy n="116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408D-CEC7-BE36-2026-43F740FDF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F3251-E18B-D464-E83A-06674BA66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FEFFB-9E17-6CA2-859B-AE8B2F9B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03646-5846-4076-3023-3C9D71C81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F027-9F49-CA7B-5282-18BBDFAC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1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3895-CF5C-5020-D523-7956FCA9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3744-193E-D9D9-510A-0FAE2C4CE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929AB-C68D-EEA5-F7A4-9EBBA4B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6B3B9-699A-F259-1748-AE502884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1C885-A79A-DC09-75AF-D83FCF3D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4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34E4-621C-3F7E-CDC9-9C2BD8EE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43CE3-971E-9311-94E7-9E8628FBB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F7EB9-BAB1-0830-568C-874ABD7F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C104-3FE7-D48C-A7CD-068DA55B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F4B3F-ED46-DE64-54E6-0F833FF2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9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A4E7-FAA2-4FB3-8889-B8515EC6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84BFD-D4D1-1286-EAA8-958C9B830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F82B6-2601-3683-2FA3-BECCD2678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226FF-C400-F5B5-4E60-90192788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3A920-1173-FD43-12CA-F9FEFEE7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C6993-3D3D-EC11-E781-93E5A600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76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13ED-56F6-FE7D-06FD-8C396B53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D0E50-B784-0F22-6D89-5B0285976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788DE-777E-9233-C635-33577DC20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28951-F6F8-6E21-8FAD-B2209EAA6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500F6-F37C-9314-F1DE-372700930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8B156-F3A3-5C8C-12B0-13C5072F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BF7B1-26DD-B575-7413-23EEFBB0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0F696-B28F-8830-DEED-02AEAE63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1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33B6-7E0D-AEF4-C4C1-A5DE8D65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EA1EF-366B-8A59-5AB2-1DA1CC4B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713BD-A3A7-0333-6481-41542C3A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E861-E26F-C8C3-AA00-F8271844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1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AD643-CF2B-7B1C-7E72-75FB53F9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CB3BD-9C82-F180-D526-04FA258E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E24DD-2563-198D-94B1-4DD22A29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1DAD-5218-610D-6E9E-194242C9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2C6AC-3FB8-4B8D-07D7-93460CAD2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098D7-0AD7-01C2-9654-1D0D5F3FC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AAD71-5CAA-D918-7817-EFEE73F2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1815F-273A-CE82-7A75-D464D3A26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6E1EF-CFD9-939B-1638-64464C85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1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F13E-6EEA-FE32-7967-224FD7E8C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D42C88-99D1-275C-A707-39BA39199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B197B-AA77-D546-8B63-4C6590D6B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5B55D-0169-A20E-D127-EB22A713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F2EB5-69A7-D5B3-1519-98A74073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F3DD1-BD4D-1D78-F62F-95296CFC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7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E8195-6156-88DA-6AC9-DBC02C5AD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9926B-7374-9D4C-7434-6CB6C9D3B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D0016-074C-50D3-927F-62309A9A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96075-5126-1F44-04A0-F4B89001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9FE7-4AF5-515F-0175-68A6E916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87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840E19-2D99-7598-6216-F7371A259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60FCC-9080-5FE1-9F21-ED43ADC00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A696E-E885-DD30-8620-8C8CBA14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89C78-0DBF-0939-2FA2-D4AC40C6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AB245-9952-5E95-4DBD-3E62737E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4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D7557-9B81-4B69-7003-4F8AB1DA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CDAF3-5C21-F645-D558-7A8B5ED01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8358-849A-C7C0-1B60-549A3E023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E1709-B6AC-2C48-BEA3-1487495416D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A9644-ABA9-9120-CB29-B09D0D1EA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F565F-4D95-25B6-58FA-E978C1B2F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6F2A7-8276-0E45-BD71-26FE46B25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54DD-47CC-D346-AE82-2A55EB378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197B-60FD-5129-DECD-AA501CA26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&amp; M</a:t>
            </a:r>
          </a:p>
        </p:txBody>
      </p:sp>
    </p:spTree>
    <p:extLst>
      <p:ext uri="{BB962C8B-B14F-4D97-AF65-F5344CB8AC3E}">
        <p14:creationId xmlns:p14="http://schemas.microsoft.com/office/powerpoint/2010/main" val="403656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61C5CA-6569-7BF9-9592-BD520CF19C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5" t="6977"/>
          <a:stretch>
            <a:fillRect/>
          </a:stretch>
        </p:blipFill>
        <p:spPr>
          <a:xfrm>
            <a:off x="2351313" y="783771"/>
            <a:ext cx="7126515" cy="1741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09F672-DA9D-A880-13B2-5868B80DB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94"/>
          <a:stretch>
            <a:fillRect/>
          </a:stretch>
        </p:blipFill>
        <p:spPr>
          <a:xfrm>
            <a:off x="1765299" y="3323771"/>
            <a:ext cx="7469565" cy="248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7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91F39-F629-6C51-B6D1-742AA5C8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Integrals as Volumes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3D867-3145-4F71-FAE9-05C2601F5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58359" cy="4351338"/>
          </a:xfrm>
        </p:spPr>
        <p:txBody>
          <a:bodyPr/>
          <a:lstStyle/>
          <a:p>
            <a:r>
              <a:rPr lang="en-IN" dirty="0"/>
              <a:t>Given a function f of two variables that is continuous and nonnegative on a region R in the </a:t>
            </a:r>
            <a:r>
              <a:rPr lang="en-IN" i="1" dirty="0" err="1"/>
              <a:t>xy</a:t>
            </a:r>
            <a:r>
              <a:rPr lang="en-IN" dirty="0"/>
              <a:t>-plane, find the volume of the solid enclosed between the surface z = f(x, y) and the region 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B8CB7E-D250-30C4-CE7E-10125D335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564" y="1492310"/>
            <a:ext cx="4462236" cy="468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2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67A55-FEBA-90C3-31F5-0E6FC8D8E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100" y="537936"/>
            <a:ext cx="4660900" cy="5346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A6C10C-7A49-40B6-798B-0917E5B1763D}"/>
                  </a:ext>
                </a:extLst>
              </p:cNvPr>
              <p:cNvSpPr txBox="1"/>
              <p:nvPr/>
            </p:nvSpPr>
            <p:spPr>
              <a:xfrm>
                <a:off x="319489" y="319489"/>
                <a:ext cx="7535537" cy="437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When </a:t>
                </a:r>
                <a:r>
                  <a:rPr lang="en-IN" sz="2000" dirty="0" err="1"/>
                  <a:t>ƒ</a:t>
                </a:r>
                <a:r>
                  <a:rPr lang="en-IN" sz="2000" dirty="0"/>
                  <a:t>(x, y) is a positive function over a rectangular region R in the </a:t>
                </a:r>
                <a:r>
                  <a:rPr lang="en-IN" sz="2000" dirty="0" err="1"/>
                  <a:t>xy</a:t>
                </a:r>
                <a:r>
                  <a:rPr lang="en-IN" sz="2000" dirty="0"/>
                  <a:t>-plane, we may interpret the double integral of </a:t>
                </a:r>
                <a:r>
                  <a:rPr lang="en-IN" sz="2000" dirty="0" err="1"/>
                  <a:t>ƒ</a:t>
                </a:r>
                <a:r>
                  <a:rPr lang="en-IN" sz="2000" dirty="0"/>
                  <a:t> over R as the volume of the 3-dimensional solid region over the </a:t>
                </a:r>
                <a:r>
                  <a:rPr lang="en-IN" sz="2000" dirty="0" err="1"/>
                  <a:t>xy</a:t>
                </a:r>
                <a:r>
                  <a:rPr lang="en-IN" sz="2000" dirty="0"/>
                  <a:t>-plane bounded below by R and above by the surface z = </a:t>
                </a:r>
                <a:r>
                  <a:rPr lang="en-IN" sz="2000" dirty="0" err="1"/>
                  <a:t>ƒ</a:t>
                </a:r>
                <a:r>
                  <a:rPr lang="en-IN" sz="2000" dirty="0"/>
                  <a:t>(x, y) (Figure 15.2).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Each term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0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IN" sz="2000" i="1" dirty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in the sum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ƒ</m:t>
                        </m:r>
                        <m:d>
                          <m:dPr>
                            <m:ctrlPr>
                              <a:rPr lang="en-IN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000" i="1" dirty="0" err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IN" sz="2000" i="1" dirty="0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000" i="1" dirty="0" err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is the volume of a vertical rectangular box that approximates the volume of the portion of the solid that stands directly above the base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The sum Sn thus approximates what we want to call the total volume of the solid. We define this volume to be: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A6C10C-7A49-40B6-798B-0917E5B17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89" y="319489"/>
                <a:ext cx="7535537" cy="4371902"/>
              </a:xfrm>
              <a:prstGeom prst="rect">
                <a:avLst/>
              </a:prstGeom>
              <a:blipFill>
                <a:blip r:embed="rId3"/>
                <a:stretch>
                  <a:fillRect l="-504" t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277FF0A-FF59-6963-0F81-DB6EBE118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58" y="4914462"/>
            <a:ext cx="65532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8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5584E4-3065-B280-D7CE-7A1A1B35A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96" y="1155700"/>
            <a:ext cx="9716407" cy="405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0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8D1BA-B804-FFFB-BE89-94F50779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Fubini’s Theorem for Calculating Double Integrals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27EAB9-5E43-F3F7-9FC5-0C0504435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730082"/>
            <a:ext cx="10744200" cy="319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28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80EF89-42C8-A22D-D4FB-6201F4F78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4" y="228600"/>
            <a:ext cx="4025900" cy="635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A17E75-3F32-BC1D-7B77-B5BF15248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847" y="1887698"/>
            <a:ext cx="71501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8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BA5E-045C-20B2-7E3F-33B4B0A9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9E82DB-5A10-64F6-88E3-7E6061BFD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94" y="563764"/>
            <a:ext cx="3926224" cy="57304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9BFC7E-F407-AB16-7ACE-76E7F70B6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858" y="2090451"/>
            <a:ext cx="6991350" cy="210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3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4675-DC86-F046-E3CA-50867341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DD7CEF-0906-5F43-9F65-7E1BCCF11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21" y="508000"/>
            <a:ext cx="4025900" cy="635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C60DE-BAA0-2A99-3E3F-FFB62288A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14" y="165100"/>
            <a:ext cx="4394200" cy="64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05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E83359-A40D-E1E9-F6CE-1BDDCC9D5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914" y="488414"/>
            <a:ext cx="7772400" cy="1343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4DB6D9-E44B-0BCA-FA91-1D834D5C5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0" y="1831484"/>
            <a:ext cx="4038600" cy="497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5B424-3FFC-CCD0-E019-FB2F1F703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43" y="2160814"/>
            <a:ext cx="4368800" cy="939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9059C1-72F2-199B-FD52-2EE41BD23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207" y="3594100"/>
            <a:ext cx="2794000" cy="88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A90AE4-B371-DC9D-5E82-8233FAA9E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501" y="4483100"/>
            <a:ext cx="2286000" cy="825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E5158C-66A5-21D8-D434-6A3695E7EF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1" y="5372100"/>
            <a:ext cx="26416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0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308620-DE68-7BC9-7296-2F237EA36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10" y="822589"/>
            <a:ext cx="9664846" cy="942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D63768-B7DB-5950-0C49-581DB80C5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579" y="2168071"/>
            <a:ext cx="3924300" cy="368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3F7FD0-DE9B-9670-1642-2629FE042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73" y="2964868"/>
            <a:ext cx="6110132" cy="218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9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E40620-EC0B-C6AE-538B-1688CF01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6" y="580571"/>
            <a:ext cx="5943600" cy="198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F6B53C-4312-3736-A4E4-8345094F3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879" y="1279978"/>
            <a:ext cx="3670300" cy="354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F5CDCC-E776-0D2C-8028-B5D7879E1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15" y="3429000"/>
            <a:ext cx="66294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0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7E41B-FD06-EFB8-1299-E7C22CA54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085" y="643467"/>
            <a:ext cx="6901685" cy="534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3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488932-BA15-E8ED-7EB5-3B6CC2C5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957" y="1286934"/>
            <a:ext cx="5994088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57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5CA4B4-A8B4-2F72-136F-486BFB287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6" y="1020273"/>
            <a:ext cx="7421329" cy="463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45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183</Words>
  <Application>Microsoft Macintosh PowerPoint</Application>
  <PresentationFormat>Widescreen</PresentationFormat>
  <Paragraphs>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24MAT120</vt:lpstr>
      <vt:lpstr>PowerPoint Presentation</vt:lpstr>
      <vt:lpstr>Double Integrals as Volumes</vt:lpstr>
      <vt:lpstr>PowerPoint Presentation</vt:lpstr>
      <vt:lpstr>PowerPoint Presentation</vt:lpstr>
      <vt:lpstr>Fubini’s Theorem for Calculating Double Integrals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2026-04-08T03:40:18Z</dcterms:created>
  <dcterms:modified xsi:type="dcterms:W3CDTF">2026-04-08T09:19:59Z</dcterms:modified>
</cp:coreProperties>
</file>