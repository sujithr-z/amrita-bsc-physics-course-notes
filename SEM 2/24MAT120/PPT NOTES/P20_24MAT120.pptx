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3" r:id="rId13"/>
    <p:sldId id="272" r:id="rId14"/>
    <p:sldId id="268" r:id="rId15"/>
    <p:sldId id="274" r:id="rId16"/>
    <p:sldId id="269" r:id="rId17"/>
    <p:sldId id="270" r:id="rId18"/>
    <p:sldId id="271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29"/>
    <p:restoredTop sz="94681"/>
  </p:normalViewPr>
  <p:slideViewPr>
    <p:cSldViewPr snapToGrid="0">
      <p:cViewPr varScale="1">
        <p:scale>
          <a:sx n="72" d="100"/>
          <a:sy n="72" d="100"/>
        </p:scale>
        <p:origin x="208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B68A7-4450-6E0F-D93A-2ABD303B1D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6C3D16-62FD-2E39-8332-B5A6F035F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93DF6-8696-646A-501F-10F75A4C1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886-1D17-214B-AB0B-2AAEC22A013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B56E3-4E87-5898-3385-12C0BAD22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BEC65-C928-9489-B2E8-B32CC0A95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2F1E-57AA-9A4C-8F4D-C37577020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8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EC4CD-C1D3-A2EB-F944-ABE150EE6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94219-94C5-51CB-4D49-54B491400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7346C-7103-4460-8841-41E166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886-1D17-214B-AB0B-2AAEC22A013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83E49-46B8-C1DB-2D77-EDA241528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A5E4B-F765-37E0-DF2F-ACD7BDA6C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2F1E-57AA-9A4C-8F4D-C37577020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42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9604-0D4F-727A-4C03-81A1CF81A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0992A-CFF7-8DDA-4210-0C7EA320F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5C47E-A4DE-F848-6FE3-08C2C6091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886-1D17-214B-AB0B-2AAEC22A013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D6982-1739-539D-FBCB-11AEA33D9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9BF4C-8A84-5E29-E44B-DA5A5159F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2F1E-57AA-9A4C-8F4D-C37577020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99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D33F9-21E4-5C24-017A-14DF170FD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E6436-71B4-4A74-5318-E50B33DDB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30AF7-22FC-FF39-27A9-A077D0D87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EA48F-FEAC-6C96-426B-1B4A0A075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886-1D17-214B-AB0B-2AAEC22A013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AEEFC-BA18-613F-5819-413D1859C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ECF94-5B8A-9FD5-CF8D-10B12155F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2F1E-57AA-9A4C-8F4D-C37577020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04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08ECA-DF75-6DE2-2037-464F043DF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7B800B-AD81-A926-1EFE-758727386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030FB2-1127-B696-1C6E-EF3955B78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867CE7-DAE5-A3D5-847D-9BE9B7FEA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5B3C58-8460-A923-BB80-163BFCC6BC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46782-610C-7179-1671-DDE272FB9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886-1D17-214B-AB0B-2AAEC22A013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385C5-3F53-1B88-4BA2-82B183709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BB522B-DE73-0418-7B50-3C6B50B91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2F1E-57AA-9A4C-8F4D-C37577020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439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AEDAB-7178-48CA-C7A8-CF6734F80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7085DA-588B-E924-052B-9B08D10D0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886-1D17-214B-AB0B-2AAEC22A013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15A13-8A05-BACD-FD36-5638EF82B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9CEAB-CB36-1D89-29F4-3B2C57785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2F1E-57AA-9A4C-8F4D-C37577020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2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C69A5B-6FFF-388C-C3D8-A2C573E8F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886-1D17-214B-AB0B-2AAEC22A013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FCBDE9-1E49-9379-66C4-B2EB18526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18709-D5BF-C29E-F22C-889ED0363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2F1E-57AA-9A4C-8F4D-C37577020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097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C433-9FAC-118A-C73B-87674E481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59718-85AD-BAB7-9431-C3A4EA29E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112959-0598-645F-646B-6564F2158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6E356-8902-606D-6D83-50DC9BFE5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886-1D17-214B-AB0B-2AAEC22A013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D668D-3FD9-9C06-E5CC-A4F56FDC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F96EA-9B91-9F41-C6C1-B253EBF3A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2F1E-57AA-9A4C-8F4D-C37577020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53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F070-84D2-F788-DC66-ABAA06AE5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7C2CF9-BA09-1FE3-B5EB-4813D9FC4F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946B0-8C09-B62A-A5B9-3385ECE59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914D1E-3956-1B33-10A3-B125FC01D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886-1D17-214B-AB0B-2AAEC22A013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88078-131E-A004-687F-4B4B5405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19A80-FE33-0564-A6EE-60F2261FC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2F1E-57AA-9A4C-8F4D-C37577020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017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139B3-D727-C173-56E0-21EC498EA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AF65E-6D20-ACFA-ECFD-9FD054499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C1D1A-DC84-9DF6-1EB6-BB0989584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886-1D17-214B-AB0B-2AAEC22A013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93B1C-F7B9-B5DA-DB57-7E3AC54B1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44220-5811-BD18-C07C-448D998C0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2F1E-57AA-9A4C-8F4D-C37577020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1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2709E1-62A6-8AA9-4E7C-290C339394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71EAF-CB11-90E4-257B-47B33B79C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96B9F-D195-4661-C4F6-B03300E66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50886-1D17-214B-AB0B-2AAEC22A013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0990F-ABD5-687B-20D3-7E77B42FA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3E53C-76A9-1DDA-5DC0-39F5E2BB9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02F1E-57AA-9A4C-8F4D-C37577020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555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9BF840-33A4-5ABC-3A76-CAB0A5DD4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1BFC5-37D0-486A-A2F1-1EAF314FE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CBFF2-CA15-F6A7-51E8-4F02DB9FA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150886-1D17-214B-AB0B-2AAEC22A013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26E16-DAF7-B1FA-D482-FCB02FD58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E9547-9D1B-F359-2313-F033E0DC04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502F1E-57AA-9A4C-8F4D-C37577020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7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F552-9A3B-239B-36D7-66488050E2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24MAT120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F65F3-5AF4-F8DE-01DC-1404DBA741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S2 P &amp; M</a:t>
            </a:r>
          </a:p>
        </p:txBody>
      </p:sp>
    </p:spTree>
    <p:extLst>
      <p:ext uri="{BB962C8B-B14F-4D97-AF65-F5344CB8AC3E}">
        <p14:creationId xmlns:p14="http://schemas.microsoft.com/office/powerpoint/2010/main" val="1533953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FD3BE-6EB2-0786-BE8C-07E480507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Conservative Field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9127A-37D3-3A72-07E7-F3F4E56BEB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239699" cy="4351338"/>
              </a:xfrm>
            </p:spPr>
            <p:txBody>
              <a:bodyPr/>
              <a:lstStyle/>
              <a:p>
                <a:r>
                  <a:rPr lang="en-IN" dirty="0"/>
                  <a:t>Suppose a particle moves from point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to point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IN" dirty="0"/>
                  <a:t>.</a:t>
                </a:r>
              </a:p>
              <a:p>
                <a:r>
                  <a:rPr lang="en-IN" dirty="0"/>
                  <a:t>Does the work done depend on the path taken?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𝑑𝑟</m:t>
                        </m:r>
                      </m:e>
                    </m:nary>
                  </m:oMath>
                </a14:m>
                <a:endParaRPr lang="en-IN" dirty="0"/>
              </a:p>
              <a:p>
                <a:r>
                  <a:rPr lang="en-IN" dirty="0" err="1"/>
                  <a:t>Sometines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This leads to conservative field.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9127A-37D3-3A72-07E7-F3F4E56BEB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239699" cy="4351338"/>
              </a:xfrm>
              <a:blipFill>
                <a:blip r:embed="rId2"/>
                <a:stretch>
                  <a:fillRect l="-1387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AA60B30-A466-48D8-3AC5-29DC8CAB22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535"/>
          <a:stretch>
            <a:fillRect/>
          </a:stretch>
        </p:blipFill>
        <p:spPr>
          <a:xfrm>
            <a:off x="6488090" y="3429000"/>
            <a:ext cx="4470400" cy="260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067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431B7-37E6-CFD4-8A8A-F73BD11E1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Frictional Work Field Conservative?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4C168E-5DE2-EF72-ADFE-D7B027BB59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From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to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IN" dirty="0"/>
                  <a:t>:</a:t>
                </a:r>
              </a:p>
              <a:p>
                <a:r>
                  <a:rPr lang="en-IN" dirty="0"/>
                  <a:t>Straight path → small work </a:t>
                </a:r>
              </a:p>
              <a:p>
                <a:r>
                  <a:rPr lang="en-IN" dirty="0"/>
                  <a:t>Curved path → larger work </a:t>
                </a:r>
              </a:p>
              <a:p>
                <a:r>
                  <a:rPr lang="en-IN" dirty="0"/>
                  <a:t>So: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b="0"/>
                            <m:t>Work</m:t>
                          </m:r>
                          <m:r>
                            <m:rPr>
                              <m:nor/>
                            </m:rPr>
                            <a:rPr lang="en-IN" b="0" i="1"/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/>
                            <m:t>depends</m:t>
                          </m:r>
                          <m:r>
                            <m:rPr>
                              <m:nor/>
                            </m:rPr>
                            <a:rPr lang="en-IN" b="0" i="1"/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/>
                            <m:t>on</m:t>
                          </m:r>
                          <m:r>
                            <m:rPr>
                              <m:nor/>
                            </m:rPr>
                            <a:rPr lang="en-IN" b="0" i="1"/>
                            <m:t> </m:t>
                          </m:r>
                          <m:r>
                            <m:rPr>
                              <m:nor/>
                            </m:rPr>
                            <a:rPr lang="en-IN" b="0" i="1"/>
                            <m:t>path</m:t>
                          </m:r>
                        </m:e>
                      </m:borderBox>
                    </m:oMath>
                  </m:oMathPara>
                </a14:m>
                <a:endParaRPr lang="ar-AE" b="0" dirty="0"/>
              </a:p>
              <a:p>
                <a:r>
                  <a:rPr lang="en-IN" dirty="0"/>
                  <a:t>This is a </a:t>
                </a:r>
                <a:r>
                  <a:rPr lang="en-IN" b="1" dirty="0"/>
                  <a:t>nonconservative field</a:t>
                </a:r>
                <a:r>
                  <a:rPr lang="en-IN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4C168E-5DE2-EF72-ADFE-D7B027BB59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401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FEE81-7E28-A892-5587-48D6EEA12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Gravitational Work Field Conservative?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E2F5D-1C83-96C8-71A1-930250DD3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Whether you lift vertically, move along a ramp, follow a curved path, the work against gravity is </a:t>
            </a:r>
            <a:r>
              <a:rPr lang="en-US" b="1" dirty="0"/>
              <a:t>mg</a:t>
            </a:r>
            <a:r>
              <a:rPr lang="el-GR" b="1" dirty="0"/>
              <a:t>Δ</a:t>
            </a:r>
            <a:r>
              <a:rPr lang="en-US" b="1" dirty="0"/>
              <a:t>h </a:t>
            </a:r>
            <a:r>
              <a:rPr lang="en-US" dirty="0"/>
              <a:t>same in every case. </a:t>
            </a:r>
          </a:p>
          <a:p>
            <a:r>
              <a:rPr lang="en-US" dirty="0"/>
              <a:t>Gravity depends only on position, not on how you traveled. </a:t>
            </a:r>
          </a:p>
          <a:p>
            <a:r>
              <a:rPr lang="en-US" dirty="0"/>
              <a:t>So: Work depends only on endpoints ​ </a:t>
            </a:r>
          </a:p>
          <a:p>
            <a:r>
              <a:rPr lang="en-US" dirty="0"/>
              <a:t>This is a conservative field. </a:t>
            </a:r>
          </a:p>
        </p:txBody>
      </p:sp>
    </p:spTree>
    <p:extLst>
      <p:ext uri="{BB962C8B-B14F-4D97-AF65-F5344CB8AC3E}">
        <p14:creationId xmlns:p14="http://schemas.microsoft.com/office/powerpoint/2010/main" val="421590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71BD3F-B0EA-A5E1-064C-C3FC30F47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312986"/>
            <a:ext cx="10905066" cy="242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241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29B81E-14E7-3C80-C86A-2D93D8FB5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624752"/>
            <a:ext cx="10905066" cy="160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72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17CEAC-5B94-20FB-029C-C0C5C36EB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629664"/>
            <a:ext cx="10905066" cy="359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36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B67EFA-E2B3-56A1-62E2-32FE554F7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695413"/>
            <a:ext cx="10905066" cy="24809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82F1D0-4360-FF77-8976-4B22B864876B}"/>
              </a:ext>
            </a:extLst>
          </p:cNvPr>
          <p:cNvSpPr txBox="1"/>
          <p:nvPr/>
        </p:nvSpPr>
        <p:spPr>
          <a:xfrm>
            <a:off x="416689" y="5683170"/>
            <a:ext cx="9676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Conservative fields are generated by potential energy functions, so energy is conserved and work depends only on endpoints.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628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EE8F65-0D75-BD12-DDC3-D81C620B6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88548"/>
            <a:ext cx="10905066" cy="248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35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F061EE-EC58-042C-96B6-D9981F7B3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56816"/>
            <a:ext cx="10905066" cy="294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069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EDEB5-18D0-B71C-F2D4-F17A1D425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35" y="92242"/>
            <a:ext cx="10905066" cy="34896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38BCFE-0074-8E24-4F1D-DF3D5C537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35" y="3960729"/>
            <a:ext cx="11589676" cy="227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714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586367-C11D-9C8C-2381-174CE04AC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8" y="0"/>
            <a:ext cx="3721100" cy="3340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DC979E-10CB-B49F-B154-2255754A0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926" y="0"/>
            <a:ext cx="3187700" cy="3467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F725AE-4F48-EA8E-8F2F-4073600BF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516" y="3429000"/>
            <a:ext cx="3835400" cy="3073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E97962-A233-662D-D8BF-AE2B4B743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1850" y="3667793"/>
            <a:ext cx="3221310" cy="259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497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70936D-9842-7CE4-A5C4-1D7D42C12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518857"/>
            <a:ext cx="10905066" cy="288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76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5A6E3B-80AC-65DE-5D12-7BFF97B4B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78" y="2856666"/>
            <a:ext cx="9664846" cy="96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58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68DB67-25AC-6AF4-3D5F-07E1F4ABB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15922"/>
            <a:ext cx="10905066" cy="302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10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C94537-E0F7-C8FB-E55B-746B41C25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78" y="1866019"/>
            <a:ext cx="9664846" cy="294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107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39236C-8889-CA32-54DE-884A7B348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78" y="1660643"/>
            <a:ext cx="9664846" cy="335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779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AD7B26-71F0-4F66-A921-BA1C1EB21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578" y="2228451"/>
            <a:ext cx="9664846" cy="222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319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2C835F-69AA-6E35-76F1-00042EBA6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750" y="0"/>
            <a:ext cx="49404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87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146</Words>
  <Application>Microsoft Macintosh PowerPoint</Application>
  <PresentationFormat>Widescreen</PresentationFormat>
  <Paragraphs>21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Times New Roman</vt:lpstr>
      <vt:lpstr>Office Theme</vt:lpstr>
      <vt:lpstr>24MAT120</vt:lpstr>
      <vt:lpstr>Conservative Field</vt:lpstr>
      <vt:lpstr>Frictional Work Field Conservative?</vt:lpstr>
      <vt:lpstr>Gravitational Work Field Conservative?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Sreedeep C D</dc:creator>
  <cp:lastModifiedBy>Sreedeep C D</cp:lastModifiedBy>
  <cp:revision>3</cp:revision>
  <dcterms:created xsi:type="dcterms:W3CDTF">2026-05-12T03:34:31Z</dcterms:created>
  <dcterms:modified xsi:type="dcterms:W3CDTF">2026-05-13T10:12:50Z</dcterms:modified>
</cp:coreProperties>
</file>