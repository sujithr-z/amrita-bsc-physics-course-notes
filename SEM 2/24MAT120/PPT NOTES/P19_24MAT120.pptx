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95"/>
    <p:restoredTop sz="94681"/>
  </p:normalViewPr>
  <p:slideViewPr>
    <p:cSldViewPr snapToGrid="0">
      <p:cViewPr varScale="1">
        <p:scale>
          <a:sx n="62" d="100"/>
          <a:sy n="62" d="100"/>
        </p:scale>
        <p:origin x="200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7E72-32D5-7F52-B73B-897751E65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6D8AC-C6DC-7EA4-F361-6198DD9B0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6125E-D9AE-0068-891F-987157E14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928D-0BE5-814D-9BDA-F6C6C504313C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5BF7B-0D77-C5FC-72E3-503A2F5F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40B1A-1BEB-28F2-4856-D42A5401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6FE-5C62-1C46-8D6B-C1A734DB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2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22AF-ADAB-8B54-3EB1-248D2352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23600-9438-F4EB-F2F8-0EE6CE659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7F6D9-46CC-122E-3DE7-322D3A40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928D-0BE5-814D-9BDA-F6C6C504313C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D5C56-30FE-537E-882F-67F59FFB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7958C-4E49-C5AA-715B-12E5A38B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6FE-5C62-1C46-8D6B-C1A734DB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39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419B5-BC45-FDB5-1836-C4CEF82C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67CFB-5811-D7DB-D985-BE766EAB5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97FBC-8C79-EA4D-E033-0AD40D5BA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928D-0BE5-814D-9BDA-F6C6C504313C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0EEA2-55C6-FC4F-84FA-E8DC33500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C8ADA-2628-9DA4-13C8-0021FB10F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6FE-5C62-1C46-8D6B-C1A734DB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33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2886E-EBDB-4F8C-0284-BFC40DA0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A024A-1555-1DFF-DC14-BD539A3E4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1CB95-F29C-B2EB-48CC-DB97391B2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EBD23-6213-5066-55A8-C2CD55899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928D-0BE5-814D-9BDA-F6C6C504313C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F55B3-88BF-8317-1B2C-3164CEFA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93BDF-8832-7CAB-E16B-AE86BE7A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6FE-5C62-1C46-8D6B-C1A734DB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42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AACE-FF29-668B-36F8-4E9A4E003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7ACA0-C6BA-9934-64D2-0AABE5D71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31888-5641-1A18-CDAD-FBF73E720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AFDDB-5145-D0AB-323C-FDB5541A3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B5B0-FEDC-0670-4435-41829C1836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89013-8B25-2F2C-3CBA-AD9F590C2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928D-0BE5-814D-9BDA-F6C6C504313C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4A100B-5F98-E10A-EE21-43674D09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F6E950-36B4-A85C-7AC2-9BF2D4A7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6FE-5C62-1C46-8D6B-C1A734DB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25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6ED04-09CD-BB5D-DDDE-19FF78953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DB439-29A6-CDF1-B3EE-9B304A03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928D-0BE5-814D-9BDA-F6C6C504313C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B4D6D-2D89-5383-1E23-85223926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B0942-B067-D704-D217-D572F818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6FE-5C62-1C46-8D6B-C1A734DB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AC87B9-2F94-62EC-5E0F-825813174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928D-0BE5-814D-9BDA-F6C6C504313C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D010E-189A-377D-72C2-1D5F00DD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BEBE7-65E2-B882-DF87-463FD349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6FE-5C62-1C46-8D6B-C1A734DB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55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7B2E2-B952-841C-224B-72231536F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AE803-2B59-3864-179B-8EB862C6B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3692C-0CFB-1F87-EBFF-7B23C11C1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D41AD-9F27-54F5-7C1D-AFCA0E218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928D-0BE5-814D-9BDA-F6C6C504313C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F298B-FC70-8D9E-1104-5611A8AE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0C24F-FFFE-6B25-D36E-1FCBF979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6FE-5C62-1C46-8D6B-C1A734DB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4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E0C2-0907-83CD-7870-80140CA40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C2E599-58E5-9998-BDC2-41761EC59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E6D30-7E34-4485-4DB1-A6A7437B0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75AFC-AD54-6494-6FAB-28BE8025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928D-0BE5-814D-9BDA-F6C6C504313C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12A20-7EA7-CE18-A251-DB61F653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76DAB-CB93-F8E0-7A8F-9C7326187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6FE-5C62-1C46-8D6B-C1A734DB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5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F92E1-04EC-899A-B1A2-242671C12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D7B84-837E-EF5D-73D2-B6C4079D4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48DF4-7BD7-855D-BDC0-6CF38F4C2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928D-0BE5-814D-9BDA-F6C6C504313C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14AD7-AB0E-6403-D2B7-E1A5E30B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A4C62-D988-9A78-5D1F-F4C8D09E9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6FE-5C62-1C46-8D6B-C1A734DB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69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F77C80-B98C-45E5-C983-603D852C4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578A0-CF7E-A37E-9EBE-64DF57556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F9ED3-5D9F-6D16-E917-BD31A1AD9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928D-0BE5-814D-9BDA-F6C6C504313C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203C4-500F-4844-714C-EB1B6F8A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79BA6-773F-5909-4499-10229DAA5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6FE-5C62-1C46-8D6B-C1A734DB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02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F4842-5E89-99E4-F9FF-70A261F0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9D0A9-851C-191C-3B8C-3330A041E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CAB0B-ED55-A105-62BD-162693A11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07928D-0BE5-814D-9BDA-F6C6C504313C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B0656-5C27-9192-9AB8-3C148C6CD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2B4A9-5DB6-B548-1B43-D88D1D365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7A6FE-5C62-1C46-8D6B-C1A734DB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3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59B24-0065-EA87-3650-E0075B1B0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BA7986-416C-4BE8-1523-782C84D6D5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 &amp; M</a:t>
            </a:r>
          </a:p>
        </p:txBody>
      </p:sp>
    </p:spTree>
    <p:extLst>
      <p:ext uri="{BB962C8B-B14F-4D97-AF65-F5344CB8AC3E}">
        <p14:creationId xmlns:p14="http://schemas.microsoft.com/office/powerpoint/2010/main" val="542184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BF468-F4E3-4011-7B48-50E8AE4C5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5" y="886691"/>
            <a:ext cx="10730345" cy="5290272"/>
          </a:xfrm>
        </p:spPr>
        <p:txBody>
          <a:bodyPr/>
          <a:lstStyle/>
          <a:p>
            <a:r>
              <a:rPr lang="en-IN" sz="3600" dirty="0"/>
              <a:t>Suppose fluid flows in a region.</a:t>
            </a:r>
          </a:p>
          <a:p>
            <a:r>
              <a:rPr lang="en-IN" sz="3600" dirty="0"/>
              <a:t>Can we relate what happens INSIDE a region to what happens on its BOUNDARY?</a:t>
            </a:r>
          </a:p>
          <a:p>
            <a:r>
              <a:rPr lang="en-IN" sz="3600" dirty="0"/>
              <a:t>This is the core idea of Green’s theorem.</a:t>
            </a:r>
          </a:p>
          <a:p>
            <a:r>
              <a:rPr lang="en-IN" sz="3600" dirty="0"/>
              <a:t>Line integral : measures total behaviour around boundary </a:t>
            </a:r>
          </a:p>
          <a:p>
            <a:r>
              <a:rPr lang="en-IN" sz="3600" dirty="0"/>
              <a:t>Double integral : measures local behaviour inside region </a:t>
            </a:r>
          </a:p>
          <a:p>
            <a:r>
              <a:rPr lang="en-IN" sz="3600" dirty="0"/>
              <a:t>Green’s theorem connects these two.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485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CA98-96A5-3F23-C6A3-3E5148F0F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Green’s Theorem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959A1-BE65-48E8-5D5F-665496BC2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1690688"/>
            <a:ext cx="10159814" cy="419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E7D28D-F54E-9DA4-4BD7-23E7FADE9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07093"/>
            <a:ext cx="10905066" cy="444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2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2007-0AA1-E5EB-FFE4-D91C21AD1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6" y="152401"/>
            <a:ext cx="10515600" cy="1325563"/>
          </a:xfrm>
        </p:spPr>
        <p:txBody>
          <a:bodyPr/>
          <a:lstStyle/>
          <a:p>
            <a:r>
              <a:rPr lang="en-US" dirty="0"/>
              <a:t>Circulation and Curl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67FB3-4FDA-D941-AD32-4E526D16D0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9382" y="1440872"/>
                <a:ext cx="11831782" cy="5264727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Circulation=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nary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en-US" sz="3200" dirty="0"/>
                  <a:t>= Global Rotation along a closed curve C, </a:t>
                </a:r>
              </a:p>
              <a:p>
                <a:r>
                  <a:rPr lang="en-US" sz="3200" dirty="0"/>
                  <a:t>This measures total flow along the boundary ​ </a:t>
                </a:r>
              </a:p>
              <a:p>
                <a:r>
                  <a:rPr lang="en-US" sz="3200" dirty="0"/>
                  <a:t>Physically: swirling rotation around the curve </a:t>
                </a:r>
              </a:p>
              <a:p>
                <a:r>
                  <a:rPr lang="en-US" sz="3200" dirty="0"/>
                  <a:t> Curl = Local Rotation Curl measures: rotation tendency at a single point ​ </a:t>
                </a:r>
              </a:p>
              <a:p>
                <a:r>
                  <a:rPr lang="en-US" sz="3200" dirty="0"/>
                  <a:t>In 2D: curl=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sz="3200" dirty="0"/>
              </a:p>
              <a:p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𝑐𝑢𝑟𝑙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≈ </m:t>
                    </m:r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𝑐𝑖𝑟𝑐𝑢𝑙𝑎𝑡𝑖𝑜𝑛</m:t>
                        </m:r>
                      </m:num>
                      <m:den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𝑡𝑖𝑛𝑦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𝑎𝑟𝑒𝑎</m:t>
                        </m:r>
                      </m:den>
                    </m:f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</a:p>
              <a:p>
                <a:r>
                  <a:rPr lang="en-US" sz="3200" dirty="0"/>
                  <a:t> Green’s Theorem: Total circulation=sum of tiny local curls 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67FB3-4FDA-D941-AD32-4E526D16D0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9382" y="1440872"/>
                <a:ext cx="11831782" cy="5264727"/>
              </a:xfrm>
              <a:blipFill>
                <a:blip r:embed="rId2"/>
                <a:stretch>
                  <a:fillRect l="-1179" t="-17349" r="-1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2685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13184-CFE3-F327-B644-5FD266CEB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E37EE-C1F9-E145-FD38-740041705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6" y="152401"/>
            <a:ext cx="10515600" cy="1325563"/>
          </a:xfrm>
        </p:spPr>
        <p:txBody>
          <a:bodyPr/>
          <a:lstStyle/>
          <a:p>
            <a:r>
              <a:rPr lang="en-US" dirty="0"/>
              <a:t>Flux and Divergence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77EE3-FD4E-E60B-127A-B3035B8E8A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9382" y="1440872"/>
                <a:ext cx="11831782" cy="5264727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Circulation=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nary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en-US" sz="3200" dirty="0"/>
                  <a:t>= Global Flux across a closed curve C, </a:t>
                </a:r>
              </a:p>
              <a:p>
                <a:r>
                  <a:rPr lang="en-US" sz="3200" dirty="0"/>
                  <a:t>This measures total flow across the boundary ​ </a:t>
                </a:r>
              </a:p>
              <a:p>
                <a:r>
                  <a:rPr lang="en-IN" sz="3200" dirty="0"/>
                  <a:t>Divergence measures: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3200" b="0" smtClean="0"/>
                      <m:t>local</m:t>
                    </m:r>
                    <m:r>
                      <m:rPr>
                        <m:nor/>
                      </m:rPr>
                      <a:rPr lang="en-IN" sz="3200" b="0" i="1" smtClean="0"/>
                      <m:t> </m:t>
                    </m:r>
                    <m:r>
                      <m:rPr>
                        <m:nor/>
                      </m:rPr>
                      <a:rPr lang="en-IN" sz="3200" b="0" i="1" smtClean="0"/>
                      <m:t>outward</m:t>
                    </m:r>
                    <m:r>
                      <m:rPr>
                        <m:nor/>
                      </m:rPr>
                      <a:rPr lang="en-IN" sz="3200" b="0" i="1" smtClean="0"/>
                      <m:t> </m:t>
                    </m:r>
                    <m:r>
                      <m:rPr>
                        <m:nor/>
                      </m:rPr>
                      <a:rPr lang="en-IN" sz="3200" b="0" i="1" smtClean="0"/>
                      <m:t>spreading</m:t>
                    </m:r>
                  </m:oMath>
                </a14:m>
                <a:endParaRPr lang="ar-AE" sz="3200" b="0" dirty="0"/>
              </a:p>
              <a:p>
                <a:r>
                  <a:rPr lang="en-IN" sz="3200" dirty="0"/>
                  <a:t>In 2D: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/>
                        <m:t>∇</m:t>
                      </m:r>
                      <m:r>
                        <a:rPr lang="en-IN"/>
                        <m:t>⋅</m:t>
                      </m:r>
                      <m:r>
                        <a:rPr lang="en-IN" b="1"/>
                        <m:t>𝐅</m:t>
                      </m:r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/>
                            <m:t>∂</m:t>
                          </m:r>
                          <m:r>
                            <a:rPr lang="ar-AE" i="1"/>
                            <m:t>𝑃</m:t>
                          </m:r>
                        </m:num>
                        <m:den>
                          <m:r>
                            <a:rPr lang="ar-AE"/>
                            <m:t>∂</m:t>
                          </m:r>
                          <m:r>
                            <a:rPr lang="ar-AE" i="1"/>
                            <m:t>𝑥</m:t>
                          </m:r>
                        </m:den>
                      </m:f>
                      <m:r>
                        <a:rPr lang="ar-AE"/>
                        <m:t>+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/>
                            <m:t>∂</m:t>
                          </m:r>
                          <m:r>
                            <a:rPr lang="ar-AE" i="1"/>
                            <m:t>𝑄</m:t>
                          </m:r>
                        </m:num>
                        <m:den>
                          <m:r>
                            <a:rPr lang="ar-AE"/>
                            <m:t>∂</m:t>
                          </m:r>
                          <m:r>
                            <a:rPr lang="ar-AE" i="1"/>
                            <m:t>𝑦</m:t>
                          </m:r>
                        </m:den>
                      </m:f>
                    </m:oMath>
                  </m:oMathPara>
                </a14:m>
                <a:endParaRPr lang="ar-AE" sz="3200" b="0" dirty="0"/>
              </a:p>
              <a:p>
                <a:endParaRPr lang="en-US" sz="3200" dirty="0"/>
              </a:p>
              <a:p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𝑐𝑢𝑟𝑙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≈ </m:t>
                    </m:r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𝐹𝑙𝑢𝑥</m:t>
                        </m:r>
                      </m:num>
                      <m:den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𝑡𝑖𝑛𝑦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𝑎𝑟𝑒𝑎</m:t>
                        </m:r>
                      </m:den>
                    </m:f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</a:p>
              <a:p>
                <a:r>
                  <a:rPr lang="en-US" sz="3200" dirty="0"/>
                  <a:t> Green’s Theorem: Total flux=sum of tiny local divergences​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77EE3-FD4E-E60B-127A-B3035B8E8A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9382" y="1440872"/>
                <a:ext cx="11831782" cy="5264727"/>
              </a:xfrm>
              <a:blipFill>
                <a:blip r:embed="rId2"/>
                <a:stretch>
                  <a:fillRect l="-1179" t="-17349" b="-2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383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88C1D9-AE65-26A1-81DB-4A9CAA14F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85" y="320193"/>
            <a:ext cx="10905066" cy="2726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F86234-4AE7-E66F-F566-7694F4307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29000"/>
            <a:ext cx="5524500" cy="127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4A267C-5F7E-8ECE-1D54-9107DE7FA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355" y="5081540"/>
            <a:ext cx="56642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07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39FC82-8F48-11AB-E57E-5134FEB8B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442" y="643466"/>
            <a:ext cx="928511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32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32DFF2-D88D-145F-FB76-5BFACC727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207" y="0"/>
            <a:ext cx="63255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55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346882-261C-4C28-0348-212D2A57F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400" y="0"/>
            <a:ext cx="8637199" cy="654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106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180</Words>
  <Application>Microsoft Macintosh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24MAT120</vt:lpstr>
      <vt:lpstr>PowerPoint Presentation</vt:lpstr>
      <vt:lpstr>Green’s Theorem</vt:lpstr>
      <vt:lpstr>PowerPoint Presentation</vt:lpstr>
      <vt:lpstr>Circulation and Curl</vt:lpstr>
      <vt:lpstr>Flux and Divergence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1</cp:revision>
  <dcterms:created xsi:type="dcterms:W3CDTF">2026-05-07T16:43:34Z</dcterms:created>
  <dcterms:modified xsi:type="dcterms:W3CDTF">2026-05-08T04:47:49Z</dcterms:modified>
</cp:coreProperties>
</file>