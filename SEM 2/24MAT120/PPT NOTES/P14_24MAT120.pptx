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681"/>
  </p:normalViewPr>
  <p:slideViewPr>
    <p:cSldViewPr snapToGrid="0">
      <p:cViewPr varScale="1">
        <p:scale>
          <a:sx n="88" d="100"/>
          <a:sy n="88" d="100"/>
        </p:scale>
        <p:origin x="176" y="7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06BFA-D347-38F7-199B-6BAA1A0A42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4D1852-7850-EA0C-1F2F-8F393D7170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7BE76C-54FA-041F-4621-0B4FC5DA9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EA83F-B1F1-0846-8D89-50D3B6B73478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D0BE67-9241-A777-F7EB-605A98DD5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9F0115-63E8-A244-EC7C-B2F9694DB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B4473-4DB4-254F-B48B-0B55F90764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6866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57157-6EA3-549B-F1E4-6714F7899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AA94FB-157A-551D-E2D0-40F50C3F62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585180-81DA-7307-AD63-B62870302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EA83F-B1F1-0846-8D89-50D3B6B73478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BAA584-CE27-8BB6-A424-447CE75E7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F325F1-2F3D-E999-9643-1F611CDB0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B4473-4DB4-254F-B48B-0B55F90764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8371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F034D-7B74-A29E-DBF4-11A963C4B6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CD83C-180E-7CA9-5583-994607C9E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2B5B70-0437-7A45-B622-24C7BB5D6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EA83F-B1F1-0846-8D89-50D3B6B73478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953791-23CA-BE38-1414-3376903BC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050482-C2D4-B47C-366A-FD55BB044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B4473-4DB4-254F-B48B-0B55F90764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184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710DA-3DBC-2742-DA07-949A798A5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CB1842-1FAB-CEDD-BD99-9BC0615DC4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88D9D1-B24D-6E6E-B1F7-7B432ED2CE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90299A-ABA0-B801-E78F-40177B046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EA83F-B1F1-0846-8D89-50D3B6B73478}" type="datetimeFigureOut">
              <a:rPr lang="en-US" smtClean="0"/>
              <a:t>4/28/26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576288-A12E-14D5-FB03-EECD7A302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EF5BC8-38F5-36E7-62D6-DF459A5DC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B4473-4DB4-254F-B48B-0B55F90764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3277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0285F-1DF8-5C8E-A6FE-5225721F45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F9D8E0-89D6-AFE8-AD18-63DF04342D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3483C0-5AA4-1049-85D4-F21BF09201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6E4E51-B7AE-7B71-193D-6AC88AF3C7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37B175-030C-EC75-AB4F-591B2ABEFE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EF28A3-19D5-BDFB-AE23-86E5BA9A0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EA83F-B1F1-0846-8D89-50D3B6B73478}" type="datetimeFigureOut">
              <a:rPr lang="en-US" smtClean="0"/>
              <a:t>4/28/26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A08947-8031-9006-2CB8-ECD6EC5CD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11A76B1-BCF1-F39B-F7B5-F9EBF6D29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B4473-4DB4-254F-B48B-0B55F90764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4833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2DB19-8530-8F6C-965B-4A0A17896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1842FB-FD01-A7F9-6041-0BBC3D0AB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EA83F-B1F1-0846-8D89-50D3B6B73478}" type="datetimeFigureOut">
              <a:rPr lang="en-US" smtClean="0"/>
              <a:t>4/28/26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2E93BD-901A-E237-378B-932DBEA68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0157BD-929B-C9FC-ED6E-79B1BB0B2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B4473-4DB4-254F-B48B-0B55F90764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751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BA582A-D15B-FE64-ABDA-62A43DD65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EA83F-B1F1-0846-8D89-50D3B6B73478}" type="datetimeFigureOut">
              <a:rPr lang="en-US" smtClean="0"/>
              <a:t>4/28/26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CF8C13-9097-5AD6-DAA8-A390A4EDC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9EAD0B-A63A-F0F4-506E-ACC3A13B0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B4473-4DB4-254F-B48B-0B55F90764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9069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39452-182F-9602-4435-6981E3D94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833CD8-C76D-F1C5-21AD-FC8D50B62C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B2D2C6-3D7E-E5CA-7A5F-AC84552167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DAD5F5-A5F7-4D0E-B152-2BDF7F450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EA83F-B1F1-0846-8D89-50D3B6B73478}" type="datetimeFigureOut">
              <a:rPr lang="en-US" smtClean="0"/>
              <a:t>4/28/26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001F5E-0D2C-ACDC-B05D-D6EA886B6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59A9BF-0587-B76A-F9AD-1E136202C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B4473-4DB4-254F-B48B-0B55F90764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3376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C1E57-B2E6-0733-B64F-E36CDD751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3C1A82-F4A0-1D67-C253-1390BE2257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D17A18-B4B0-B7D0-5FB5-44ADAFAA1A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6DE2ED-1964-8B65-9662-52487E141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EA83F-B1F1-0846-8D89-50D3B6B73478}" type="datetimeFigureOut">
              <a:rPr lang="en-US" smtClean="0"/>
              <a:t>4/28/26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C66054-7FAD-2744-E5CE-CADB32790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17B822-5F4E-0702-B33A-A99885EE9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B4473-4DB4-254F-B48B-0B55F90764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7637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C6E2E-744F-9CC7-5867-378EE60E0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9E8FF4-AC56-CEFE-2510-EC3317391F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7A91A1-60AD-2CB2-01E4-003EBE584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EA83F-B1F1-0846-8D89-50D3B6B73478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B3B9AB-6A2C-97A4-3448-D5FEDE757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AA131D-E5F7-2D8B-1F4D-17C55E9A3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B4473-4DB4-254F-B48B-0B55F90764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9404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AAF1843-5732-EFB0-93EF-78DA4853AE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BA45C0-E1C3-516E-3104-7EC6A29A86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F13B95-18A1-EFCE-D0E2-971B5342F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EA83F-B1F1-0846-8D89-50D3B6B73478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2C117E-6824-B629-EF70-C8A74472E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46710B-C8AE-5917-C013-5B5DBD22B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B4473-4DB4-254F-B48B-0B55F90764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0995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92CEEC-2223-EDAB-E41C-F634492DF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F9533D-3508-20C7-7793-2E5983A824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9F6BF5-ECD0-10BF-41CA-5F1E05BA5D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3EA83F-B1F1-0846-8D89-50D3B6B73478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27FA5A-2AC5-4761-53ED-586BF08CD5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428090-7D2C-49F5-F2F4-A6D0CD4E03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1B4473-4DB4-254F-B48B-0B55F90764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874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B43D5-D9BF-BA86-BAE8-9B103A867A9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24MAT120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479EE8-62B3-C0A2-7560-F5C06624282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S2 P&amp;M</a:t>
            </a:r>
          </a:p>
        </p:txBody>
      </p:sp>
    </p:spTree>
    <p:extLst>
      <p:ext uri="{BB962C8B-B14F-4D97-AF65-F5344CB8AC3E}">
        <p14:creationId xmlns:p14="http://schemas.microsoft.com/office/powerpoint/2010/main" val="46957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596FF2B-6BA9-9C83-8FFF-0E3DC54A1EC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990"/>
          <a:stretch>
            <a:fillRect/>
          </a:stretch>
        </p:blipFill>
        <p:spPr>
          <a:xfrm>
            <a:off x="2015366" y="130628"/>
            <a:ext cx="8028520" cy="6671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7019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686909-EEC3-7B51-46A9-4422ECF28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793" y="583894"/>
            <a:ext cx="5221995" cy="5593069"/>
          </a:xfrm>
        </p:spPr>
        <p:txBody>
          <a:bodyPr/>
          <a:lstStyle/>
          <a:p>
            <a:r>
              <a:rPr lang="en-IN" dirty="0"/>
              <a:t>Use a double integral to find the volume of the tetrahedron bounded by the coordinate planes and the plane </a:t>
            </a:r>
          </a:p>
          <a:p>
            <a:pPr marL="0" indent="0">
              <a:buNone/>
            </a:pPr>
            <a:r>
              <a:rPr lang="en-IN" dirty="0"/>
              <a:t>z = 4− 4x− 2y.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816CF2-4BF5-32EE-7EB7-259E91B59F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793" y="2794000"/>
            <a:ext cx="3022600" cy="4064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20E6A6A-7C63-8934-6386-0368337A1A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9419" y="268612"/>
            <a:ext cx="1568297" cy="121978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0AE17B1-E7FC-87B9-1F7D-9B72D999F6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9745" y="204156"/>
            <a:ext cx="1612900" cy="12573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717C274-BE85-6A58-4393-DFEE07F727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4183963">
            <a:off x="7457177" y="3483006"/>
            <a:ext cx="1937161" cy="3492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7BA76F8-C75E-1B05-2644-6E53DE292E8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430" t="2736"/>
          <a:stretch>
            <a:fillRect/>
          </a:stretch>
        </p:blipFill>
        <p:spPr>
          <a:xfrm>
            <a:off x="254614" y="457200"/>
            <a:ext cx="5221995" cy="4064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22A4C8A-4830-7F30-8EBB-768069B1F70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167"/>
          <a:stretch>
            <a:fillRect/>
          </a:stretch>
        </p:blipFill>
        <p:spPr>
          <a:xfrm>
            <a:off x="6538686" y="1045029"/>
            <a:ext cx="3149600" cy="78649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CB369F4-CB73-BD9B-39B3-B2D06C89CE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7764" y="2057400"/>
            <a:ext cx="3365500" cy="8636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DDB91AA-804E-593A-AF1E-2DBC4C026DB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5000"/>
          <a:stretch>
            <a:fillRect/>
          </a:stretch>
        </p:blipFill>
        <p:spPr>
          <a:xfrm>
            <a:off x="6715393" y="3483427"/>
            <a:ext cx="3124200" cy="86360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F75D9ED-72EB-E9D8-FEE9-41F35574AB7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67764" y="4547505"/>
            <a:ext cx="2362200" cy="7239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57EDD4F-9EBE-3043-9A06-84C7E0AA8C9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19257" y="5495471"/>
            <a:ext cx="5080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53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22688-7D94-6E6C-E07A-51E7CA073B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914" y="624114"/>
            <a:ext cx="10932886" cy="5552849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Find the volume of the solid bounded by the cylinder x</a:t>
            </a:r>
            <a:r>
              <a:rPr lang="en-IN" baseline="30000" dirty="0"/>
              <a:t>2</a:t>
            </a:r>
            <a:r>
              <a:rPr lang="en-IN" dirty="0"/>
              <a:t> + y</a:t>
            </a:r>
            <a:r>
              <a:rPr lang="en-IN" baseline="30000" dirty="0"/>
              <a:t>2</a:t>
            </a:r>
            <a:r>
              <a:rPr lang="en-IN" dirty="0"/>
              <a:t> = 4 and the planes y + z = 4 and z = 0.</a:t>
            </a:r>
          </a:p>
          <a:p>
            <a:endParaRPr lang="en-IN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E26495-A965-1814-3F72-7C8507FD2D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743" y="2310493"/>
            <a:ext cx="3149600" cy="33401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A75A35B-D916-5A5B-F7E9-CE010400AC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0186" y="2723243"/>
            <a:ext cx="3022600" cy="251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948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6E7E5FF-59E1-A964-BF58-5B590C1C7DD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3469"/>
          <a:stretch>
            <a:fillRect/>
          </a:stretch>
        </p:blipFill>
        <p:spPr>
          <a:xfrm>
            <a:off x="1438729" y="1146627"/>
            <a:ext cx="7543800" cy="12246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41C8183-CDDD-0D50-0B33-D6BE263216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4672" y="2952750"/>
            <a:ext cx="3683000" cy="74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5459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7B60B46-5576-9B0C-A1A3-4E84D2F496C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4114" y="667657"/>
                <a:ext cx="10729686" cy="5509306"/>
              </a:xfrm>
            </p:spPr>
            <p:txBody>
              <a:bodyPr/>
              <a:lstStyle/>
              <a:p>
                <a:r>
                  <a:rPr lang="en-IN" dirty="0"/>
                  <a:t>We know: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grow m:val="on"/>
                          <m:ctrlPr>
                            <a:rPr lang="ar-AE"/>
                          </m:ctrlPr>
                        </m:naryPr>
                        <m:sub>
                          <m:r>
                            <a:rPr lang="ar-AE" i="1"/>
                            <m:t>𝑎</m:t>
                          </m:r>
                        </m:sub>
                        <m:sup>
                          <m:r>
                            <a:rPr lang="ar-AE" i="1"/>
                            <m:t>𝑏</m:t>
                          </m:r>
                        </m:sup>
                        <m:e>
                          <m:r>
                            <a:rPr lang="ar-AE"/>
                            <m:t>1</m:t>
                          </m:r>
                        </m:e>
                      </m:nary>
                      <m:r>
                        <m:rPr>
                          <m:nor/>
                        </m:rPr>
                        <a:rPr lang="ar-AE" i="1"/>
                        <m:t> </m:t>
                      </m:r>
                      <m:r>
                        <a:rPr lang="ar-AE" i="1"/>
                        <m:t>𝑑𝑥</m:t>
                      </m:r>
                      <m:r>
                        <a:rPr lang="ar-AE"/>
                        <m:t>=</m:t>
                      </m:r>
                      <m:r>
                        <a:rPr lang="ar-AE" i="1"/>
                        <m:t>𝑏</m:t>
                      </m:r>
                      <m:r>
                        <a:rPr lang="ar-AE"/>
                        <m:t>−</m:t>
                      </m:r>
                      <m:r>
                        <a:rPr lang="ar-AE" i="1"/>
                        <m:t>𝑎</m:t>
                      </m:r>
                    </m:oMath>
                  </m:oMathPara>
                </a14:m>
                <a:endParaRPr lang="ar-AE" b="0" dirty="0"/>
              </a:p>
              <a:p>
                <a:r>
                  <a:rPr lang="en-IN" dirty="0"/>
                  <a:t>This gives the </a:t>
                </a:r>
                <a:r>
                  <a:rPr lang="en-IN" b="1" dirty="0"/>
                  <a:t>length</a:t>
                </a:r>
                <a:r>
                  <a:rPr lang="en-IN" dirty="0"/>
                  <a:t> of an interval.</a:t>
                </a:r>
              </a:p>
              <a:p>
                <a:endParaRPr lang="en-IN" dirty="0"/>
              </a:p>
              <a:p>
                <a:r>
                  <a:rPr lang="en-IN" dirty="0"/>
                  <a:t>If integration gives length in one dimension, what gives area in two dimensions?</a:t>
                </a:r>
              </a:p>
              <a:p>
                <a:endParaRPr lang="en-IN" dirty="0"/>
              </a:p>
              <a:p>
                <a:r>
                  <a:rPr lang="en-IN" dirty="0"/>
                  <a:t>Precisely area.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7B60B46-5576-9B0C-A1A3-4E84D2F496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4114" y="667657"/>
                <a:ext cx="10729686" cy="5509306"/>
              </a:xfrm>
              <a:blipFill>
                <a:blip r:embed="rId2"/>
                <a:stretch>
                  <a:fillRect l="-945" t="-255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92374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9BF34-5AF3-3FFD-63D5-E0C74073B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078029" cy="1325563"/>
          </a:xfrm>
        </p:spPr>
        <p:txBody>
          <a:bodyPr>
            <a:normAutofit/>
          </a:bodyPr>
          <a:lstStyle/>
          <a:p>
            <a:r>
              <a:rPr lang="en-IN" dirty="0"/>
              <a:t>AREA CALCULATED AS A DOUBLE INTEGRAL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5FF851-7468-AC36-DAF6-1428C7FD09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Although double integrals arose in the context of calculating volumes, they can also be used to calculate areas. </a:t>
            </a:r>
          </a:p>
          <a:p>
            <a:r>
              <a:rPr lang="en-IN" dirty="0"/>
              <a:t>Now suppose that we are interested in finding the area A of a region R in the </a:t>
            </a:r>
            <a:r>
              <a:rPr lang="en-IN" dirty="0" err="1"/>
              <a:t>xy</a:t>
            </a:r>
            <a:r>
              <a:rPr lang="en-IN" dirty="0"/>
              <a:t>-plane. </a:t>
            </a:r>
          </a:p>
          <a:p>
            <a:r>
              <a:rPr lang="en-IN" dirty="0"/>
              <a:t>If we translate the region R upward 1 unit, then the resulting solid will be with height 1 has cross-sectional area A, base R, and the plane z = 1 as its top. </a:t>
            </a:r>
          </a:p>
          <a:p>
            <a:r>
              <a:rPr lang="en-US" dirty="0"/>
              <a:t>Thus  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825FC8-DA8B-4E6B-8268-07F5448F37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3584" y="5021262"/>
            <a:ext cx="4802415" cy="1506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591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292EB1-39A8-69A6-5D85-147E44B11F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800" y="461282"/>
            <a:ext cx="10515600" cy="4351338"/>
          </a:xfrm>
        </p:spPr>
        <p:txBody>
          <a:bodyPr/>
          <a:lstStyle/>
          <a:p>
            <a:r>
              <a:rPr lang="en-IN" dirty="0"/>
              <a:t>Use a double integral to find the area of the region R enclosed between the parabola y=0.5x</a:t>
            </a:r>
            <a:r>
              <a:rPr lang="en-IN" baseline="30000" dirty="0"/>
              <a:t>2</a:t>
            </a:r>
            <a:r>
              <a:rPr lang="en-IN" dirty="0"/>
              <a:t> and the line y= 2x.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E15F30-AB8B-3EA6-6090-5A557B7A2A8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756" t="7929" r="8756" b="4263"/>
          <a:stretch>
            <a:fillRect/>
          </a:stretch>
        </p:blipFill>
        <p:spPr>
          <a:xfrm>
            <a:off x="431800" y="2296885"/>
            <a:ext cx="3584724" cy="262345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EB8861-CFC2-35CB-3A91-8DACE9D897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7740" y="2014268"/>
            <a:ext cx="8175476" cy="4001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1058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E49F9D0-3F73-ECF2-B32E-A3C42B65C7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8424" y="643466"/>
            <a:ext cx="7235151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1437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78BCDE8-2BD1-962A-686F-907D436591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0114" y="-1"/>
            <a:ext cx="8011886" cy="6755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48401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204</Words>
  <Application>Microsoft Macintosh PowerPoint</Application>
  <PresentationFormat>Widescreen</PresentationFormat>
  <Paragraphs>18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24MAT120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AREA CALCULATED AS A DOUBLE INTEGRAL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Sreedeep C D</dc:creator>
  <cp:lastModifiedBy>Sreedeep C D</cp:lastModifiedBy>
  <cp:revision>2</cp:revision>
  <dcterms:created xsi:type="dcterms:W3CDTF">2026-04-28T07:21:43Z</dcterms:created>
  <dcterms:modified xsi:type="dcterms:W3CDTF">2026-04-28T08:11:24Z</dcterms:modified>
</cp:coreProperties>
</file>