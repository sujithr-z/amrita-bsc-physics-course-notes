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1" r:id="rId3"/>
    <p:sldId id="273" r:id="rId4"/>
    <p:sldId id="272" r:id="rId5"/>
    <p:sldId id="278" r:id="rId6"/>
    <p:sldId id="279" r:id="rId7"/>
    <p:sldId id="274" r:id="rId8"/>
    <p:sldId id="275" r:id="rId9"/>
    <p:sldId id="276" r:id="rId10"/>
    <p:sldId id="277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E43C-3403-1160-CF50-F9E8AD4E5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FFDE1-A5D4-BB51-DA45-FF19507FC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579E7-8CDE-3E23-A0E2-EB755CBB3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60D9-14C1-E1CF-34EB-30692970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A6EF-088B-BE28-561E-47CE8418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1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3376-9F8D-6813-F049-72E621EB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339BB-95E7-2844-9CB7-B4C09FC9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7DC9A-A022-5B02-1A86-979DC8FF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94223-AD9D-3524-5FCF-D9CFEC73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B3D8-8ECF-E645-413C-491B1ABB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0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FC35-C27F-C16B-CAC1-87DB0833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778E0-C596-1C45-C96B-27445A1B9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FFE24-6C1F-75AB-5BF4-C35BE472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7C71D-AC06-9FF1-3EB3-CAF8A8763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DE671-FF57-EF86-D861-734CF1B5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9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0E5E-40F8-819D-DC5A-A8A27ECF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ADF2D-F23C-EF7F-CCDE-386817220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CEEA5-B411-C7AE-634B-B55D01A62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AC3AC-FB68-493E-D456-56C8C878E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024BC-88CF-0534-7CE8-DA5EE368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B4834-DF98-6922-A78A-0116584D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1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BB40-9F32-DE76-1686-4DA983D90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D5869-1ADA-B6E7-5DDB-9AD96562C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90DE9-D505-B1F5-67FA-AD6422A2E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998C2-C893-DFAD-2FDE-76479809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7046D-82FD-E097-9EC7-8192DDE19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3AB5E-6434-17CF-F23D-289BA779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4FBEE-FF42-9B8A-40CE-20AD7FF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DA0A2-4CC3-4341-A6F6-1022A72D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7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CC4D-93B4-533B-FF77-321D70C72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D3129-3B96-C365-A746-65D4BE0D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C7D4A-796F-24C8-A71B-EB1B4FB9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F7213-8B96-12B5-5230-35E3C104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B2B87-0F60-50BC-F6BA-A25C1FEA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A1146-9E28-958A-2A30-BDEDD64F1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0C235-8106-F22F-7F5C-8890D20E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8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203B-DF3F-97EC-D8E7-0054D331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9E838-344B-FB3B-64AE-C77054654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763A3-A803-4E71-3056-A44B3D14D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5F169-6A04-4ED8-16A6-ED927774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228D0-BABD-A776-8683-F9643B9A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8A83F-7E56-9989-2295-8FA19F56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5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E714-D7F8-F84A-958C-F64716D2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29CB0-7E56-1381-9EC4-E2122E355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5052D-BC03-2726-51AC-9F0323615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6452C-38CD-130D-922A-9CFC628E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BAC83-9573-456D-61DE-E6A1A03C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66856-DC97-B8C3-DCD1-2FDC1E1B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8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CD08-E248-A87E-AAC8-2B625B0C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6DE06-AC74-7453-395B-2294A8723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AE609-B086-8671-647A-2B0DE25DC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E371-69BF-CD51-14FA-5D144442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F9EC2-B112-4C1D-99BB-6998225E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5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92937-19C1-677D-3BFC-F44A132DC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5167D-E4A2-2537-F35B-3DA3C0178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62299-938C-03AF-2BD0-AF5B5DE5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96F3E-6904-50B8-B90D-990A3D16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C217C-063B-1613-A631-7FE33FC6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6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C5228-2A68-92EE-CDFA-BDC527898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437FA-986B-35C8-EC22-E4910F659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CBA99-0062-4105-F170-AA3F22AE5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BCB0E-5B9C-E54E-B34F-B847E4E1C7F8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C5DB-88F8-31AB-47A0-19DF691E9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6D081-6570-8177-3324-820BEE7F5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63C2E-6DE1-6B41-B166-D427090FE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6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54DD-47CC-D346-AE82-2A55EB378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197B-60FD-5129-DECD-AA501CA26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&amp; M</a:t>
            </a:r>
          </a:p>
        </p:txBody>
      </p:sp>
    </p:spTree>
    <p:extLst>
      <p:ext uri="{BB962C8B-B14F-4D97-AF65-F5344CB8AC3E}">
        <p14:creationId xmlns:p14="http://schemas.microsoft.com/office/powerpoint/2010/main" val="403656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61C5CA-6569-7BF9-9592-BD520CF19C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5" t="6977"/>
          <a:stretch>
            <a:fillRect/>
          </a:stretch>
        </p:blipFill>
        <p:spPr>
          <a:xfrm>
            <a:off x="2351313" y="783771"/>
            <a:ext cx="7126515" cy="1741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09F672-DA9D-A880-13B2-5868B80DB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94"/>
          <a:stretch>
            <a:fillRect/>
          </a:stretch>
        </p:blipFill>
        <p:spPr>
          <a:xfrm>
            <a:off x="1765299" y="3323771"/>
            <a:ext cx="7469565" cy="248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7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D10A2-0EE9-846F-A101-C3B903422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48207"/>
            <a:ext cx="10905066" cy="556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90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05D939-00C4-4F2E-9797-3170DD04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EE4E44-1403-472B-8C01-D354CB8F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742226-8B0D-6607-FCCD-366DF152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1" b="1"/>
          <a:stretch>
            <a:fillRect/>
          </a:stretch>
        </p:blipFill>
        <p:spPr>
          <a:xfrm>
            <a:off x="6421035" y="643467"/>
            <a:ext cx="5129784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83CCE40-4C5F-42D3-86D9-7892AD1E9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5222D-D6DD-8166-1AD7-05E67D111F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21"/>
          <a:stretch>
            <a:fillRect/>
          </a:stretch>
        </p:blipFill>
        <p:spPr>
          <a:xfrm>
            <a:off x="641180" y="643467"/>
            <a:ext cx="512978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F683A3-8548-CBEE-53E1-C5109AA3AC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8130" y="903383"/>
                <a:ext cx="11248222" cy="5273580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Earlier we did: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supHide m:val="on"/>
                          <m:ctrlPr>
                            <a:rPr lang="ar-AE"/>
                          </m:ctrlPr>
                        </m:naryPr>
                        <m:sub>
                          <m:r>
                            <a:rPr lang="ar-AE" i="1"/>
                            <m:t>𝑅</m:t>
                          </m:r>
                        </m:sub>
                        <m:sup/>
                        <m:e>
                          <m:r>
                            <a:rPr lang="ar-AE" i="1"/>
                            <m:t>𝑓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  <m:e>
                          <m:r>
                            <a:rPr lang="ar-AE" i="1"/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/>
                        <m:t>𝑑𝐴</m:t>
                      </m:r>
                      <m:r>
                        <a:rPr lang="ar-AE"/>
                        <m:t> </m:t>
                      </m:r>
                      <m:r>
                        <m:rPr>
                          <m:nor/>
                        </m:rPr>
                        <a:rPr lang="en-IN" i="1"/>
                        <m:t>where</m:t>
                      </m:r>
                      <m:r>
                        <m:rPr>
                          <m:nor/>
                        </m:rPr>
                        <a:rPr lang="en-IN" i="1"/>
                        <m:t> </m:t>
                      </m:r>
                      <m:r>
                        <a:rPr lang="en-IN" i="1"/>
                        <m:t>𝑅</m:t>
                      </m:r>
                      <m:r>
                        <a:rPr lang="en-IN"/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𝑎</m:t>
                          </m:r>
                        </m:e>
                        <m:e>
                          <m:r>
                            <a:rPr lang="ar-AE" i="1"/>
                            <m:t>𝑏</m:t>
                          </m:r>
                        </m:e>
                      </m:d>
                      <m:r>
                        <a:rPr lang="ar-AE"/>
                        <m:t>×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𝑐</m:t>
                          </m:r>
                        </m:e>
                        <m:e>
                          <m:r>
                            <a:rPr lang="ar-AE" i="1"/>
                            <m:t>𝑑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dirty="0"/>
                  <a:t>What if the region is curved (triangle, circle, etc.)?</a:t>
                </a:r>
              </a:p>
              <a:p>
                <a:endParaRPr lang="en-IN" dirty="0"/>
              </a:p>
              <a:p>
                <a:r>
                  <a:rPr lang="en-IN" dirty="0"/>
                  <a:t>That’s a </a:t>
                </a:r>
                <a:r>
                  <a:rPr lang="en-IN" b="1" dirty="0"/>
                  <a:t>general region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br>
                  <a:rPr lang="en-IN" dirty="0"/>
                </a:br>
                <a:endParaRPr lang="en-I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F683A3-8548-CBEE-53E1-C5109AA3AC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8130" y="903383"/>
                <a:ext cx="11248222" cy="5273580"/>
              </a:xfrm>
              <a:blipFill>
                <a:blip r:embed="rId2"/>
                <a:stretch>
                  <a:fillRect l="-1016" t="-28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0A89562-1AB4-26A3-2725-4CA4D62CF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886" y="3783376"/>
            <a:ext cx="3556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1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601F68-9B51-B352-E45F-81F4144A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762000"/>
            <a:ext cx="7112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63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AA857166-A416-4C5E-8AA9-5D5D1E13D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40" y="0"/>
            <a:ext cx="4617491" cy="6858000"/>
          </a:xfrm>
          <a:prstGeom prst="rect">
            <a:avLst/>
          </a:prstGeom>
          <a:ln>
            <a:noFill/>
          </a:ln>
          <a:effectLst>
            <a:outerShdw blurRad="203200" dist="88900" dir="21540000" sx="94000" sy="94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40" y="-1"/>
            <a:ext cx="4617491" cy="5136739"/>
          </a:xfrm>
          <a:prstGeom prst="rect">
            <a:avLst/>
          </a:prstGeom>
          <a:ln>
            <a:noFill/>
          </a:ln>
          <a:effectLst>
            <a:outerShdw blurRad="177800" dist="101600" dir="5400000" sx="97000" sy="97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0F6B-7FDC-BF32-A1D7-D0DB6015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87" y="617921"/>
            <a:ext cx="3482041" cy="3988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Double Integrals over Bounded, Nonrectangular Regions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8FFED4-8B34-E8F3-3E62-51F185A4E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9673" y="617921"/>
            <a:ext cx="5368902" cy="571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E1C28-1405-0433-2108-D31ACB8E0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441" y="514617"/>
            <a:ext cx="7699872" cy="5952283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To define the double integral of a function </a:t>
            </a:r>
            <a:r>
              <a:rPr lang="en-IN" dirty="0" err="1"/>
              <a:t>ƒ</a:t>
            </a:r>
            <a:r>
              <a:rPr lang="en-IN" dirty="0"/>
              <a:t>(x, y) over a bounded, nonrectangular region R, such as the one in Figure 15.8, we again begin by covering R with a grid of small rectangular cells whose union contains all points of R. </a:t>
            </a:r>
          </a:p>
          <a:p>
            <a:r>
              <a:rPr lang="en-IN" dirty="0"/>
              <a:t>This time, however, we cannot exactly fill R with a finite number of rectangles lying inside R, since its boundary is curved, and some of the small rectangles in the grid lie partly outside R. </a:t>
            </a:r>
          </a:p>
          <a:p>
            <a:r>
              <a:rPr lang="en-IN" dirty="0"/>
              <a:t>A partition of R is formed by taking the rectangles that lie completely inside it, not using any that are either partly or completely outside. </a:t>
            </a:r>
          </a:p>
          <a:p>
            <a:r>
              <a:rPr lang="en-IN" dirty="0"/>
              <a:t>For commonly arising regions, more and more of R is included as the area of a partition (the largest width or height of any rectangle used) approaches zero.</a:t>
            </a:r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3142474-D9FA-F442-8D70-DCDF58B09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31"/>
          <a:stretch>
            <a:fillRect/>
          </a:stretch>
        </p:blipFill>
        <p:spPr>
          <a:xfrm>
            <a:off x="8505710" y="722045"/>
            <a:ext cx="3191546" cy="403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9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411CB0-F812-25B2-372F-8278BEC02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85" y="1148443"/>
            <a:ext cx="7772400" cy="4310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B0D116-9EEF-000B-A59D-303A90D7B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542" y="203200"/>
            <a:ext cx="3784600" cy="64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80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A8EAD-6331-82CF-3732-3AAFB09E7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73" y="713874"/>
            <a:ext cx="8209141" cy="3011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85EE00-0F61-8BED-CEFC-BC6218001E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99"/>
          <a:stretch>
            <a:fillRect/>
          </a:stretch>
        </p:blipFill>
        <p:spPr>
          <a:xfrm>
            <a:off x="8956712" y="203200"/>
            <a:ext cx="2781715" cy="64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F5A5B3-64CC-4F1B-06AD-D9DF058339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881" b="59674"/>
          <a:stretch>
            <a:fillRect/>
          </a:stretch>
        </p:blipFill>
        <p:spPr>
          <a:xfrm>
            <a:off x="649596" y="487254"/>
            <a:ext cx="4905829" cy="24532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56CEB8-F3CD-5B87-8810-B9B7C1481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192" r="66924"/>
          <a:stretch>
            <a:fillRect/>
          </a:stretch>
        </p:blipFill>
        <p:spPr>
          <a:xfrm>
            <a:off x="7768853" y="381338"/>
            <a:ext cx="2570761" cy="2665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664233-FFD5-920C-2A6B-94C550F0E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471" y="3551346"/>
            <a:ext cx="64262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03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194</Words>
  <Application>Microsoft Macintosh PowerPoint</Application>
  <PresentationFormat>Widescreen</PresentationFormat>
  <Paragraphs>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Double Integrals over Bounded, Nonrectangular Regions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2026-04-16T09:06:34Z</dcterms:created>
  <dcterms:modified xsi:type="dcterms:W3CDTF">2026-04-17T05:55:23Z</dcterms:modified>
</cp:coreProperties>
</file>