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63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10"/>
    <p:restoredTop sz="94610"/>
  </p:normalViewPr>
  <p:slideViewPr>
    <p:cSldViewPr snapToGrid="0">
      <p:cViewPr varScale="1">
        <p:scale>
          <a:sx n="102" d="100"/>
          <a:sy n="102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3C2E-5DDC-511B-9AC7-85A57A542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B27C8-4919-C167-1FBF-D3C520AA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064D-2D96-B157-D3E5-125BBC14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315C9-2D78-56F2-A938-575A08F4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1A3AE-8835-A576-BEE4-CB43172B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4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7EEE-662F-F069-B59D-D9709FE1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7DFF-5C31-2E1E-7EED-B2F1DCB39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0DC65-CF4B-8026-4800-E053A20F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35741-841C-A20D-37DC-F467DBAB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5B57D-82E1-89D2-BB81-DE7C5F19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64B6-15E6-35E8-9567-F3ABA1B0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1C752-56AF-2B66-6922-94A2FA8C9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19F-D2BF-88E4-9811-F580B539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AA478-9082-6281-C16E-8EC840003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1CD51-9687-3436-7523-3807AAEB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3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B480-CF71-4339-C87E-E5E2AD2B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BF0A8-94DD-F114-3D95-6B7FBAEBF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1B785-8058-EFE0-848B-DBD203FBE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4C023-B90D-A406-71DE-6FDF8853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BAB80-90BA-7CA2-7C32-C3DEE41B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1DB7E-C2A8-89BC-450F-BAD67173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9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8D34-CBD0-AE52-FA1A-5DEE5146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513CF-4048-CE39-E84E-0ED3A766A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28EF-C933-0836-D6F1-5F110DA42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D13C5-1BE8-7B58-5919-44542E9FC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14330-955A-212D-36F6-DE5AE3554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25D6D-0747-0AD5-9849-0DD1B9A0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D89DC6-D240-7A9B-5513-0AF6EC88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62BD5-C147-3DE7-61F0-01A8D5F3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4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84B8-D26D-5398-4460-D3DE2811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C68BD1-6346-56FA-772C-508ACDF6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11676-ED10-30F0-0B7A-E28FD21C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147D1-1B2F-E994-830B-513A7345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8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2B641-E0DE-0616-132F-E4FA6CB8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5B4EE-A221-A5D6-BC6B-1391794E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6A035-A0F5-BE6A-F3CE-DBCFACF8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2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9AD4-6A6D-0C0D-0DFE-252B3A03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6A8B-7B4B-1B20-C199-FE72756D2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450C1-95F3-1F38-F66D-B0150459F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A5216-7E45-A00E-8BD3-AD96BFE4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A9C6B-6BAD-CA9E-24AC-D9118C9F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ECCC7-29CF-9652-5625-2E34E28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3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0BA2-E236-E853-B844-2DDCB59F3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933B8F-02CA-E171-BF5C-5696F40B5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2EB51-962F-A24B-B03F-C6546D83F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C6897-CD9A-E054-7F61-54308E34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1F844-EDA4-BD83-C5FD-6CC7EDE9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6C2DB-3B3A-6928-0CBE-8EEE8A6E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7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83B6-C50C-6C14-4672-30E36EDE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2AF3F-AB25-9E6C-9039-76352E28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47912-EA0A-6EEC-C846-C4CA8056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3F3A1-442F-7FD8-FD0F-18AC79AD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11213-3A59-C2AA-89BC-13D82A56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7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79-5295-A7DF-9313-0801B090A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EFB6E-5623-1173-71F6-36F95B95B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16032-3DF8-2BDE-08CA-5B88FB3D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7DFA-E2C9-A8A1-FA5B-5218A030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2590-EE46-D126-9FB7-05E72069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6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FB2EC-679F-CB65-AB65-B3C249D4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36971-3676-3802-974C-0AF27166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03602-23B0-460F-97BE-0E8EE4728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F1DD5-A82C-E845-9BFE-2C983D41715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2D107-E4B2-F8B7-96A8-0C765AA07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58987-B253-A517-AA78-9268432E4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67A84-CD2D-9F48-ADCA-F8581388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5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24AD-B5B0-16E1-E61F-E29925237C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06FE1-572A-D842-9A39-C368AD6E1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and M</a:t>
            </a:r>
          </a:p>
        </p:txBody>
      </p:sp>
    </p:spTree>
    <p:extLst>
      <p:ext uri="{BB962C8B-B14F-4D97-AF65-F5344CB8AC3E}">
        <p14:creationId xmlns:p14="http://schemas.microsoft.com/office/powerpoint/2010/main" val="26047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AB87-2D1D-6F9F-C8FF-9B33D1F6C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Field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ECB01D-D8CE-2592-CA86-6F986D79F8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vector field assigns a vector to every point.</a:t>
                </a:r>
              </a:p>
              <a:p>
                <a:pPr marL="0" indent="0">
                  <a:buNone/>
                </a:pPr>
                <a:r>
                  <a:rPr lang="en-IN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>
                          <a:latin typeface="Cambria Math" panose="02040503050406030204" pitchFamily="18" charset="0"/>
                        </a:rPr>
                        <m:t>𝐅</m:t>
                      </m:r>
                      <m:d>
                        <m:dPr>
                          <m:sepChr m:val=","/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𝒾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𝒿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Force field </a:t>
                </a:r>
              </a:p>
              <a:p>
                <a:r>
                  <a:rPr lang="en-IN" dirty="0"/>
                  <a:t>Velocity field </a:t>
                </a:r>
              </a:p>
              <a:p>
                <a:r>
                  <a:rPr lang="en-IN" dirty="0"/>
                  <a:t>Electric field </a:t>
                </a:r>
              </a:p>
              <a:p>
                <a:r>
                  <a:rPr lang="en-IN" dirty="0"/>
                  <a:t>Magnetic field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ECB01D-D8CE-2592-CA86-6F986D79F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85D2812-5508-0C36-3667-289E7718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850" y="365125"/>
            <a:ext cx="3060700" cy="2628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5592D-A93E-C1F4-A14E-1497C018E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00" y="3525951"/>
            <a:ext cx="2641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8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283D-34E9-3137-2969-88F6F585F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024128"/>
            <a:ext cx="10768584" cy="5152835"/>
          </a:xfrm>
        </p:spPr>
        <p:txBody>
          <a:bodyPr>
            <a:normAutofit/>
          </a:bodyPr>
          <a:lstStyle/>
          <a:p>
            <a:r>
              <a:rPr lang="en-IN" dirty="0"/>
              <a:t>Generally, a vector field is a function that assigns a vector to each point in its domain.</a:t>
            </a:r>
          </a:p>
          <a:p>
            <a:r>
              <a:rPr lang="en-IN" dirty="0"/>
              <a:t>A vector field on a three-dimensional domain in space might have a formula like</a:t>
            </a:r>
          </a:p>
          <a:p>
            <a:pPr marL="0" indent="0">
              <a:buNone/>
            </a:pPr>
            <a:r>
              <a:rPr lang="en-IN" dirty="0"/>
              <a:t>		F(x, y, z)= M(x, y, z)</a:t>
            </a:r>
            <a:r>
              <a:rPr lang="en-IN" dirty="0" err="1"/>
              <a:t>i</a:t>
            </a:r>
            <a:r>
              <a:rPr lang="en-IN" dirty="0"/>
              <a:t> + N(x, y, z)j + P(x, y, z)k.</a:t>
            </a:r>
          </a:p>
          <a:p>
            <a:r>
              <a:rPr lang="en-IN" dirty="0"/>
              <a:t>The field is continuous if the component functions M, N, and P are continuous; it is differentiable if each of the component functions is differentiable. </a:t>
            </a:r>
          </a:p>
          <a:p>
            <a:r>
              <a:rPr lang="en-IN" dirty="0"/>
              <a:t>The formula for a field of two-dimensional vectors could look like</a:t>
            </a:r>
          </a:p>
          <a:p>
            <a:pPr marL="0" indent="0">
              <a:buNone/>
            </a:pPr>
            <a:r>
              <a:rPr lang="en-IN" dirty="0"/>
              <a:t>				F(x, y)= M(x, y)</a:t>
            </a:r>
            <a:r>
              <a:rPr lang="en-IN" dirty="0" err="1"/>
              <a:t>i</a:t>
            </a:r>
            <a:r>
              <a:rPr lang="en-IN" dirty="0"/>
              <a:t> + N(x, y)j.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6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01009-DB0D-BE9E-0E29-336962634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395" y="0"/>
            <a:ext cx="3594100" cy="419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58CD80-8689-7CF0-61EE-951A421E5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23" y="171127"/>
            <a:ext cx="3754464" cy="2990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7718B0-72C7-4AAE-5169-2684246A56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77" t="7382" r="3186"/>
          <a:stretch>
            <a:fillRect/>
          </a:stretch>
        </p:blipFill>
        <p:spPr>
          <a:xfrm>
            <a:off x="2004555" y="3161655"/>
            <a:ext cx="6834753" cy="36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3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4437-99C3-BF3F-FB8C-55572B4A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7FFD5-CC5A-9DCD-26AF-8D208C964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4107" y="1594624"/>
                <a:ext cx="10829693" cy="45823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gradient vector of a differentiable scalar-valued function at a point gives the direction of greatest increase of the function. </a:t>
                </a:r>
              </a:p>
              <a:p>
                <a:r>
                  <a:rPr lang="en-US" dirty="0"/>
                  <a:t>An important type of vector field is formed by all the gradient vectors of the function.</a:t>
                </a:r>
              </a:p>
              <a:p>
                <a:r>
                  <a:rPr lang="en-US" dirty="0"/>
                  <a:t>We define the gradient field of a differentiable function </a:t>
                </a:r>
                <a:r>
                  <a:rPr lang="en-US" dirty="0" err="1"/>
                  <a:t>ƒ</a:t>
                </a:r>
                <a:r>
                  <a:rPr lang="en-US" dirty="0"/>
                  <a:t>(x, y, z) to be the field of gradient vectors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At each point (x, y, z), the gradient field gives a vector pointing in the direction of greatest increase of f, with magnitude being the value of the directional derivative in that direction. </a:t>
                </a:r>
              </a:p>
              <a:p>
                <a:r>
                  <a:rPr lang="en-US" dirty="0"/>
                  <a:t>The gradient field is not always a force field or a velocity field.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7FFD5-CC5A-9DCD-26AF-8D208C964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107" y="1594624"/>
                <a:ext cx="10829693" cy="4582339"/>
              </a:xfrm>
              <a:blipFill>
                <a:blip r:embed="rId2"/>
                <a:stretch>
                  <a:fillRect l="-937" t="-2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13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7643-F55B-0CBE-54CF-3DD157FC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Line Integrals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76AD9-CB41-82AD-45C1-A44A34D8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defined the line integral of a scalar function </a:t>
            </a:r>
            <a:r>
              <a:rPr lang="en-IN" dirty="0" err="1"/>
              <a:t>ƒ</a:t>
            </a:r>
            <a:r>
              <a:rPr lang="en-IN" dirty="0"/>
              <a:t>(x, y, z) over a path C. </a:t>
            </a:r>
          </a:p>
          <a:p>
            <a:r>
              <a:rPr lang="en-IN" dirty="0"/>
              <a:t>We turn our attention now to the idea of a line integral of a vector field F along the curve C.</a:t>
            </a:r>
          </a:p>
          <a:p>
            <a:r>
              <a:rPr lang="en-IN" dirty="0"/>
              <a:t>Such line integrals have important applications in studying fluid flows, and electrical or gravitational fields.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8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191D4-3C45-D573-8106-18E2D9C3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43295"/>
            <a:ext cx="10905066" cy="35714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270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24EDC8-7B00-CC40-ABF2-0062FE0D2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38827"/>
                <a:ext cx="11136682" cy="5538136"/>
              </a:xfrm>
            </p:spPr>
            <p:txBody>
              <a:bodyPr/>
              <a:lstStyle/>
              <a:p>
                <a:r>
                  <a:rPr lang="en-IN" dirty="0"/>
                  <a:t>Force field: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/>
                        <m:t>𝐅</m:t>
                      </m:r>
                    </m:oMath>
                  </m:oMathPara>
                </a14:m>
                <a:endParaRPr lang="en-IN" b="1" dirty="0"/>
              </a:p>
              <a:p>
                <a:r>
                  <a:rPr lang="en-IN" dirty="0"/>
                  <a:t>Particle displacement: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𝑑</m:t>
                      </m:r>
                      <m:r>
                        <a:rPr lang="en-IN" b="1"/>
                        <m:t>𝐫</m:t>
                      </m:r>
                    </m:oMath>
                  </m:oMathPara>
                </a14:m>
                <a:endParaRPr lang="en-IN" b="1" dirty="0"/>
              </a:p>
              <a:p>
                <a:r>
                  <a:rPr lang="en-IN" dirty="0"/>
                  <a:t>Tiny work: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𝑑𝑊</m:t>
                      </m:r>
                      <m:r>
                        <a:rPr lang="en-IN"/>
                        <m:t>=</m:t>
                      </m:r>
                      <m:r>
                        <a:rPr lang="en-IN" b="1"/>
                        <m:t>𝐅</m:t>
                      </m:r>
                      <m:r>
                        <a:rPr lang="en-IN"/>
                        <m:t>⋅</m:t>
                      </m:r>
                      <m:r>
                        <a:rPr lang="en-IN" i="1"/>
                        <m:t>𝑑</m:t>
                      </m:r>
                      <m:r>
                        <a:rPr lang="en-IN" b="1"/>
                        <m:t>𝐫</m:t>
                      </m:r>
                    </m:oMath>
                  </m:oMathPara>
                </a14:m>
                <a:endParaRPr lang="en-IN" b="1" dirty="0"/>
              </a:p>
              <a:p>
                <a:r>
                  <a:rPr lang="en-IN" dirty="0"/>
                  <a:t>Total work: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/>
                          </m:ctrlPr>
                        </m:borderBoxPr>
                        <m:e>
                          <m:r>
                            <a:rPr lang="ar-AE" i="1"/>
                            <m:t>𝑊</m:t>
                          </m:r>
                          <m:r>
                            <a:rPr lang="ar-AE"/>
                            <m:t>=</m:t>
                          </m:r>
                          <m:nary>
                            <m:naryPr>
                              <m:grow m:val="on"/>
                              <m:supHide m:val="on"/>
                              <m:ctrlPr>
                                <a:rPr lang="ar-AE" i="1"/>
                              </m:ctrlPr>
                            </m:naryPr>
                            <m:sub>
                              <m:r>
                                <a:rPr lang="ar-AE" i="1"/>
                                <m:t>𝐶</m:t>
                              </m:r>
                            </m:sub>
                            <m:sup/>
                            <m:e>
                              <m:r>
                                <a:rPr lang="ar-AE" b="1"/>
                                <m:t>𝐅</m:t>
                              </m:r>
                            </m:e>
                          </m:nary>
                          <m:r>
                            <a:rPr lang="ar-AE"/>
                            <m:t>⋅</m:t>
                          </m:r>
                          <m:r>
                            <a:rPr lang="ar-AE" i="1"/>
                            <m:t>𝑑</m:t>
                          </m:r>
                          <m:r>
                            <a:rPr lang="ar-AE" b="1"/>
                            <m:t>𝐫</m:t>
                          </m:r>
                        </m:e>
                      </m:borderBox>
                    </m:oMath>
                  </m:oMathPara>
                </a14:m>
                <a:endParaRPr lang="ar-AE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24EDC8-7B00-CC40-ABF2-0062FE0D2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38827"/>
                <a:ext cx="11136682" cy="5538136"/>
              </a:xfrm>
              <a:blipFill>
                <a:blip r:embed="rId2"/>
                <a:stretch>
                  <a:fillRect l="-1026" t="-1831" b="-19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47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4A1323-A480-BD97-E238-55B92A0E5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960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4D6800-6FF8-169C-6F4A-942B7CBA6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536" y="643467"/>
            <a:ext cx="8738928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753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BC53-663D-99C5-A0D0-FEC15677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Integrals with Respect to dx, </a:t>
            </a:r>
            <a:r>
              <a:rPr lang="en-IN" dirty="0" err="1"/>
              <a:t>dy</a:t>
            </a:r>
            <a:r>
              <a:rPr lang="en-IN" dirty="0"/>
              <a:t>, or </a:t>
            </a:r>
            <a:r>
              <a:rPr lang="en-IN" dirty="0" err="1"/>
              <a:t>dz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1749-7690-8A2D-5AB0-BDAB7E3A2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analysing forces or flows, it is often useful to consider each component direction separately. </a:t>
            </a:r>
          </a:p>
          <a:p>
            <a:r>
              <a:rPr lang="en-IN" dirty="0"/>
              <a:t>In such situations we want a line integral of a scalar function with respect to one of the coordinates. 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D29EA-D428-8573-CE7C-A0929154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36" y="3642220"/>
            <a:ext cx="7772400" cy="285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0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EFA344-54F9-B571-AD82-3F9B775B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79610"/>
            <a:ext cx="10905066" cy="32987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353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E4D92-15E8-C375-BE42-13EE943AD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2" y="562909"/>
            <a:ext cx="10899963" cy="588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26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4611A-2B54-B228-9A56-A76C1B346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79610"/>
            <a:ext cx="10905066" cy="32987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224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2CFE5-6F10-7BA0-1D79-1FFBF6120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25" y="445288"/>
            <a:ext cx="10905066" cy="1499446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7C8D3-159E-D006-F1D3-39DCD73E9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315" y="2323655"/>
            <a:ext cx="41783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43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E963AD-9B0A-F614-1022-6DADB1876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563418"/>
            <a:ext cx="7772400" cy="573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90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AD004-07FA-3E0D-EE44-B92EF345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92" t="38889" r="3319" b="11000"/>
          <a:stretch>
            <a:fillRect/>
          </a:stretch>
        </p:blipFill>
        <p:spPr>
          <a:xfrm>
            <a:off x="1899780" y="948847"/>
            <a:ext cx="8233776" cy="486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442</Words>
  <Application>Microsoft Macintosh PowerPoint</Application>
  <PresentationFormat>Widescreen</PresentationFormat>
  <Paragraphs>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24MAT120</vt:lpstr>
      <vt:lpstr>Vector Field</vt:lpstr>
      <vt:lpstr>PowerPoint Presentation</vt:lpstr>
      <vt:lpstr>PowerPoint Presentation</vt:lpstr>
      <vt:lpstr>Gradient Fields</vt:lpstr>
      <vt:lpstr>Vector Line Integrals</vt:lpstr>
      <vt:lpstr>PowerPoint Presentation</vt:lpstr>
      <vt:lpstr>PowerPoint Presentation</vt:lpstr>
      <vt:lpstr>PowerPoint Presentation</vt:lpstr>
      <vt:lpstr>PowerPoint Presentation</vt:lpstr>
      <vt:lpstr>Line Integrals with Respect to dx, dy, or dz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2026-05-06T03:53:58Z</dcterms:created>
  <dcterms:modified xsi:type="dcterms:W3CDTF">2026-05-06T12:19:07Z</dcterms:modified>
</cp:coreProperties>
</file>