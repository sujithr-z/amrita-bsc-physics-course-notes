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/>
    <p:restoredTop sz="94681"/>
  </p:normalViewPr>
  <p:slideViewPr>
    <p:cSldViewPr snapToGrid="0">
      <p:cViewPr>
        <p:scale>
          <a:sx n="70" d="100"/>
          <a:sy n="70" d="100"/>
        </p:scale>
        <p:origin x="1400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E2F5-3B68-66D6-4196-3573E064A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B4FA9-D4A7-40C3-824E-94FA7BD73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3E9D7-FB4C-42C9-D2AD-0E62AA4A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D2FFB-FF7F-E59E-50EA-1D2C9AC3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63A42-38C0-5F63-028A-FF698D3B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0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0FAA-6C65-E3D5-2555-AA2DA28F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C85E2-F489-49E0-22ED-4E0C48044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398FB-2DF1-B822-6B48-A1BBF233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9B8B-231B-5133-6983-6A5AD03A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C4CF-D5E2-1A10-40F8-977D9C2A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6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A547-F4C7-28B7-7FD1-E153A9F6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BEADD-5D8F-505A-BEDD-BF6AAEF8E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9638-0464-66DB-7520-3626DB59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325BB-A254-B040-A722-34C43898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FDD29-DD64-A003-73F3-F71B7ED2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8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28C0-6062-FEBC-3AA5-6543390A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2D05-A441-889A-C9A3-0797F6BF3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26B57-7D87-84ED-7694-3BD7E7CE1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719F9-84FB-F59A-A49B-504B4DB2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D4B1D-B480-20FC-F125-2C99DDFC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C4DF-03F2-16D8-260E-BED787C6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1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41AC-BCF5-DA85-E491-1F0D13E2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5B34F-AC98-0A24-5DAD-0E2A83BCD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F3BB9-EF2C-4ABF-11A5-33A2CB3AC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5C699-ABF4-2F6F-F55F-C0B38043D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AECA9-6AE3-43A2-1BD2-83D9C8912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FA050-1C0F-49FD-6E23-288630E0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654D5-82A9-BE55-D738-2DD58DA8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21A2B-9483-7167-03E5-AF6ED8C7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3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9A86-4527-D85F-34B2-18A1465E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B62F3-8613-AFE1-4153-28C97674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61070-C920-EF19-54A1-5F20BD0C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749C2-1642-2D48-09FB-541D39A4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9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88016-24CC-6CB1-0CDC-F2AF05CE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2D35E-8464-A23C-BFA0-EE5526A2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82BC-BEF1-0527-748C-3E9074C4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9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B730-9787-6FA3-212E-E6F90F1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2EDD9-BB8B-646E-0365-C5191024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2DF21-8F78-67D0-8D45-98FCA1274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0CE0C-44C0-D26F-8168-C8916D8F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BA1E6-4C4F-7DED-A0C3-C7E737E9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0083-A49C-751F-7AE8-20698A4F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9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CFEF-BFB0-EF17-104A-76994535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34605-7B06-15A1-0E7D-CA570240C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B7B9C-5AA4-42B4-DA2F-535D355BA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72929-83E9-AEED-9F72-F1BA5A67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33674-2124-4D65-E42C-41BF9182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845E1-49B0-F451-C4AF-6F1CF507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0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89C6-C463-42B8-7223-2F1BC2B7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D03F-FEF9-BEAF-F03D-25E17CC02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4F6A7-88FE-5F40-92A4-7EC57184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43F4-5D56-60B2-3CB7-F952798E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8E21-6AB1-50E0-832C-80685F18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4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16094-F8A0-976F-21C1-17311D753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B9F59-DC6E-CFDE-D181-8754651BF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C4562-FDDB-CE8D-BF6E-58196530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3EDDF-72F0-E109-853E-21C127A6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9067D-6579-B060-25F8-86252F94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7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3B8C42-CDF6-8D40-2315-64A2CAC1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8B702-75F8-98DB-A613-63514F840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E58F5-9A0B-A3FC-FE5D-565293D4B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E132-F654-554D-BC9F-CDEA3C8D5A3E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338D3-6433-480A-66A4-1A3803973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AD13E-F242-5FCC-6655-777C16519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C6A4E-4509-EB44-B1D8-C26D4B3D6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2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ACB8-52AE-2235-5921-2ED8BF62A5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FF574-8A9C-9065-EF27-D873AE32B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and M</a:t>
            </a:r>
          </a:p>
        </p:txBody>
      </p:sp>
    </p:spTree>
    <p:extLst>
      <p:ext uri="{BB962C8B-B14F-4D97-AF65-F5344CB8AC3E}">
        <p14:creationId xmlns:p14="http://schemas.microsoft.com/office/powerpoint/2010/main" val="408865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5806-A976-7DD4-ACCE-E2B3D2E3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Integrals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4112-9C76-EE9B-59D5-98B52D853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double integrals we add over a region. What if we want to add </a:t>
            </a:r>
            <a:r>
              <a:rPr lang="en-IN" b="1" dirty="0"/>
              <a:t>along a curve</a:t>
            </a:r>
            <a:r>
              <a:rPr lang="en-IN" dirty="0"/>
              <a:t>?</a:t>
            </a:r>
          </a:p>
          <a:p>
            <a:r>
              <a:rPr lang="en-IN" dirty="0"/>
              <a:t>Examples:</a:t>
            </a:r>
          </a:p>
          <a:p>
            <a:pPr marL="0" indent="0">
              <a:buNone/>
            </a:pPr>
            <a:r>
              <a:rPr lang="en-IN" dirty="0"/>
              <a:t>mass of a wire </a:t>
            </a:r>
          </a:p>
          <a:p>
            <a:pPr marL="0" indent="0">
              <a:buNone/>
            </a:pPr>
            <a:r>
              <a:rPr lang="en-IN" dirty="0"/>
              <a:t>work done along a path </a:t>
            </a:r>
          </a:p>
          <a:p>
            <a:r>
              <a:rPr lang="en-IN" dirty="0"/>
              <a:t>This leads to </a:t>
            </a:r>
            <a:r>
              <a:rPr lang="en-IN" b="1" dirty="0"/>
              <a:t>line integrals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8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E625-0EC4-E1B1-1C06-5FBD9C81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Types of Line Integrals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BC44-473F-7BD8-A4AF-2C3B08CD4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Scalar Line Integral</a:t>
            </a:r>
          </a:p>
          <a:p>
            <a:r>
              <a:rPr lang="en-US" dirty="0"/>
              <a:t>Vector line Integral</a:t>
            </a:r>
          </a:p>
        </p:txBody>
      </p:sp>
    </p:spTree>
    <p:extLst>
      <p:ext uri="{BB962C8B-B14F-4D97-AF65-F5344CB8AC3E}">
        <p14:creationId xmlns:p14="http://schemas.microsoft.com/office/powerpoint/2010/main" val="222407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3D3D2-1504-0202-15FF-F8C593622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306" y="618565"/>
                <a:ext cx="10923494" cy="55583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A wire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𝜌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r>
                            <a:rPr lang="ar-AE" i="1"/>
                            <m:t>𝑦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r>
                  <a:rPr lang="en-IN" dirty="0"/>
                  <a:t>Think of the wire as many tiny pieces: small length → </a:t>
                </a:r>
                <a14:m>
                  <m:oMath xmlns:m="http://schemas.openxmlformats.org/officeDocument/2006/math">
                    <m:r>
                      <a:rPr lang="en-IN" i="1"/>
                      <m:t>𝑑𝑠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/>
                  <a:t>density at that point → </a:t>
                </a:r>
                <a14:m>
                  <m:oMath xmlns:m="http://schemas.openxmlformats.org/officeDocument/2006/math">
                    <m:r>
                      <a:rPr lang="en-IN" i="1"/>
                      <m:t>𝜌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Mass of small piece: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𝑑𝑚</m:t>
                      </m:r>
                      <m:r>
                        <a:rPr lang="en-IN"/>
                        <m:t>=</m:t>
                      </m:r>
                      <m:r>
                        <a:rPr lang="en-IN" i="1"/>
                        <m:t>𝜌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r>
                            <a:rPr lang="ar-AE" i="1"/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/>
                        <m:t>𝑑𝑠</m:t>
                      </m:r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Total mass: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/>
                          </m:ctrlPr>
                        </m:borderBoxPr>
                        <m:e>
                          <m:r>
                            <a:rPr lang="ar-AE" i="1"/>
                            <m:t>𝑚</m:t>
                          </m:r>
                          <m:r>
                            <a:rPr lang="ar-AE"/>
                            <m:t>=</m:t>
                          </m:r>
                          <m:nary>
                            <m:naryPr>
                              <m:grow m:val="on"/>
                              <m:supHide m:val="on"/>
                              <m:ctrlPr>
                                <a:rPr lang="ar-AE" i="1"/>
                              </m:ctrlPr>
                            </m:naryPr>
                            <m:sub>
                              <m:r>
                                <a:rPr lang="ar-AE" i="1"/>
                                <m:t>𝐶</m:t>
                              </m:r>
                            </m:sub>
                            <m:sup/>
                            <m:e>
                              <m:r>
                                <a:rPr lang="ar-AE" i="1"/>
                                <m:t>𝜌</m:t>
                              </m:r>
                            </m:e>
                          </m:nary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e>
                              <m:r>
                                <a:rPr lang="ar-AE" i="1"/>
                                <m:t>𝑦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 i="1"/>
                            <m:t>𝑑𝑠</m:t>
                          </m:r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This is a </a:t>
                </a:r>
                <a:r>
                  <a:rPr lang="en-IN" b="1" dirty="0"/>
                  <a:t>scalar line integral</a:t>
                </a:r>
                <a:r>
                  <a:rPr lang="en-IN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3D3D2-1504-0202-15FF-F8C593622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306" y="618565"/>
                <a:ext cx="10923494" cy="5558398"/>
              </a:xfrm>
              <a:blipFill>
                <a:blip r:embed="rId2"/>
                <a:stretch>
                  <a:fillRect l="-1045" t="-2733" b="-29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70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9FACA-70F4-EE98-311D-007790632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/>
                        <m:t>𝐫</m:t>
                      </m:r>
                      <m:d>
                        <m:dPr>
                          <m:ctrlPr>
                            <a:rPr lang="ar-AE" b="1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=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</m:d>
                          <m:r>
                            <a:rPr lang="ar-AE" i="1"/>
                            <m:t>𝑦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/>
                        <m:t>, </m:t>
                      </m:r>
                      <m:r>
                        <a:rPr lang="ar-AE" i="1"/>
                        <m:t>𝑎</m:t>
                      </m:r>
                      <m:r>
                        <a:rPr lang="ar-AE"/>
                        <m:t>≤</m:t>
                      </m:r>
                      <m:r>
                        <a:rPr lang="ar-AE" i="1"/>
                        <m:t>𝑡</m:t>
                      </m:r>
                      <m:r>
                        <a:rPr lang="ar-AE"/>
                        <m:t>≤</m:t>
                      </m:r>
                      <m:r>
                        <a:rPr lang="ar-AE" i="1"/>
                        <m:t>𝑏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𝑑𝑠</m:t>
                      </m:r>
                      <m:r>
                        <a:rPr lang="en-IN"/>
                        <m:t>=∣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b="1"/>
                            <m:t>𝐫</m:t>
                          </m:r>
                        </m:e>
                        <m:sup>
                          <m:r>
                            <a:rPr lang="ar-AE"/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∣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/>
                        <m:t>𝑑𝑡</m:t>
                      </m:r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/>
                          </m:ctrlPr>
                        </m:borderBoxPr>
                        <m:e>
                          <m:r>
                            <a:rPr lang="ar-AE" i="1"/>
                            <m:t>𝑚</m:t>
                          </m:r>
                          <m:r>
                            <a:rPr lang="ar-AE"/>
                            <m:t>=</m:t>
                          </m:r>
                          <m:nary>
                            <m:naryPr>
                              <m:grow m:val="on"/>
                              <m:ctrlPr>
                                <a:rPr lang="ar-AE" i="1"/>
                              </m:ctrlPr>
                            </m:naryPr>
                            <m:sub>
                              <m:r>
                                <a:rPr lang="ar-AE" i="1"/>
                                <m:t>𝑎</m:t>
                              </m:r>
                            </m:sub>
                            <m:sup>
                              <m:r>
                                <a:rPr lang="ar-AE" i="1"/>
                                <m:t>𝑏</m:t>
                              </m:r>
                            </m:sup>
                            <m:e>
                              <m:r>
                                <a:rPr lang="ar-AE" i="1"/>
                                <m:t>𝜌</m:t>
                              </m:r>
                            </m:e>
                          </m:nary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i="1"/>
                                    <m:t>𝑡</m:t>
                                  </m:r>
                                </m:e>
                              </m:d>
                              <m:r>
                                <a:rPr lang="ar-AE" i="1"/>
                                <m:t>𝑦</m:t>
                              </m:r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i="1"/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/>
                            <m:t>∣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b="1"/>
                                <m:t>𝐫</m:t>
                              </m:r>
                            </m:e>
                            <m:sup>
                              <m:r>
                                <a:rPr lang="ar-AE"/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</m:d>
                          <m:r>
                            <a:rPr lang="ar-AE"/>
                            <m:t>∣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 i="1"/>
                            <m:t>𝑑𝑡</m:t>
                          </m:r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9FACA-70F4-EE98-311D-007790632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06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BC710A-E2B3-A2D7-0079-4806AF690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70558"/>
            <a:ext cx="10905066" cy="35168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981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7D277-1055-4447-D6A7-884B8C4E1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66199"/>
            <a:ext cx="10905066" cy="4525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240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1D833-4FFD-A30C-07EF-16C7D264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91" y="2201911"/>
            <a:ext cx="11430418" cy="122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9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FAB79D-2436-5FE3-6A2A-6C2A10D61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8659"/>
            <a:ext cx="10905066" cy="30806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66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6A1F5-8A05-C7B5-D2C2-EF3B6E1CC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02"/>
          <a:stretch>
            <a:fillRect/>
          </a:stretch>
        </p:blipFill>
        <p:spPr>
          <a:xfrm>
            <a:off x="400024" y="366174"/>
            <a:ext cx="11465827" cy="36754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951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7611-1036-5988-8FF8-5B29B177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401148-677B-4546-B901-4F9CDECEF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1479550"/>
            <a:ext cx="7772400" cy="374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4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4D7CA-F6FF-0256-3025-20F93CDD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67" y="643467"/>
            <a:ext cx="1017546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845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6B19C-B979-4DA7-0053-CFB5EF85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77" y="643467"/>
            <a:ext cx="9058645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93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126</Words>
  <Application>Microsoft Macintosh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24MAT120</vt:lpstr>
      <vt:lpstr>Line Integrals</vt:lpstr>
      <vt:lpstr>Two Types of Line Integrals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2026-05-05T06:02:07Z</dcterms:created>
  <dcterms:modified xsi:type="dcterms:W3CDTF">2026-05-05T09:58:28Z</dcterms:modified>
</cp:coreProperties>
</file>